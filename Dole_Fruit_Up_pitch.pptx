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Lst>
  <p:notesMasterIdLst>
    <p:notesMasterId r:id="rId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notesMaster" Target="notesMasters/notes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Format completo</c:v>
                </c:pt>
              </c:strCache>
            </c:strRef>
          </c:tx>
          <c:spPr>
            <a:solidFill>
              <a:srgbClr val="B9B29C"/>
            </a:solidFill>
            <a:effectLst/>
          </c:spPr>
          <c:invertIfNegative val="0"/>
          <c:dLbls>
            <c:numFmt formatCode="#&quot;.&quot;000;;;" sourceLinked="0"/>
            <c:txPr>
              <a:bodyPr/>
              <a:lstStyle/>
              <a:p>
                <a:pPr>
                  <a:defRPr b="1" i="0" strike="noStrike" sz="1600" u="none">
                    <a:solidFill>
                      <a:srgbClr val="001389"/>
                    </a:solidFill>
                    <a:latin typeface="Arial"/>
                  </a:defRPr>
                </a:pPr>
              </a:p>
            </c:txPr>
            <c:showLegendKey val="0"/>
            <c:showVal val="1"/>
            <c:showCatName val="0"/>
            <c:showSerName val="0"/>
            <c:showPercent val="0"/>
            <c:showBubbleSize val="0"/>
            <c:showLeaderLines val="0"/>
          </c:dLbls>
          <c:cat>
            <c:multiLvlStrRef>
              <c:f>Sheet1!$A$2:$A$3</c:f>
              <c:multiLvlStrCache>
                <c:ptCount val="2"/>
                <c:lvl>
                  <c:pt idx="0">
                    <c:v>Format completo</c:v>
                  </c:pt>
                  <c:pt idx="1">
                    <c:v>Con Fruit Up</c:v>
                  </c:pt>
                </c:lvl>
              </c:multiLvlStrCache>
            </c:multiLvlStrRef>
          </c:cat>
          <c:val>
            <c:numRef>
              <c:f>Sheet1!$B$2:$B$3</c:f>
              <c:numCache>
                <c:formatCode>General</c:formatCode>
                <c:ptCount val="2"/>
                <c:pt idx="0">
                  <c:v>320000</c:v>
                </c:pt>
                <c:pt idx="1">
                  <c:v>0</c:v>
                </c:pt>
              </c:numCache>
            </c:numRef>
          </c:val>
        </c:ser>
        <c:ser>
          <c:idx val="1"/>
          <c:order val="1"/>
          <c:tx>
            <c:strRef>
              <c:f>Sheet1!$C$1</c:f>
              <c:strCache>
                <c:ptCount val="1"/>
                <c:pt idx="0">
                  <c:v>Con Fruit Up</c:v>
                </c:pt>
              </c:strCache>
            </c:strRef>
          </c:tx>
          <c:spPr>
            <a:solidFill>
              <a:srgbClr val="75BC20"/>
            </a:solidFill>
            <a:effectLst/>
          </c:spPr>
          <c:invertIfNegative val="0"/>
          <c:dLbls>
            <c:numFmt formatCode="#&quot;.&quot;000;;;" sourceLinked="0"/>
            <c:txPr>
              <a:bodyPr/>
              <a:lstStyle/>
              <a:p>
                <a:pPr>
                  <a:defRPr b="1" i="0" strike="noStrike" sz="1600" u="none">
                    <a:solidFill>
                      <a:srgbClr val="001389"/>
                    </a:solidFill>
                    <a:latin typeface="Arial"/>
                  </a:defRPr>
                </a:pPr>
              </a:p>
            </c:txPr>
            <c:showLegendKey val="0"/>
            <c:showVal val="1"/>
            <c:showCatName val="0"/>
            <c:showSerName val="0"/>
            <c:showPercent val="0"/>
            <c:showBubbleSize val="0"/>
            <c:showLeaderLines val="0"/>
          </c:dLbls>
          <c:cat>
            <c:multiLvlStrRef>
              <c:f>Sheet1!$A$2:$A$3</c:f>
              <c:multiLvlStrCache>
                <c:ptCount val="2"/>
                <c:lvl>
                  <c:pt idx="0">
                    <c:v>Format completo</c:v>
                  </c:pt>
                  <c:pt idx="1">
                    <c:v>Con Fruit Up</c:v>
                  </c:pt>
                </c:lvl>
              </c:multiLvlStrCache>
            </c:multiLvlStrRef>
          </c:cat>
          <c:val>
            <c:numRef>
              <c:f>Sheet1!$C$2:$C$3</c:f>
              <c:numCache>
                <c:formatCode>General</c:formatCode>
                <c:ptCount val="2"/>
                <c:pt idx="0">
                  <c:v>0</c:v>
                </c:pt>
                <c:pt idx="1">
                  <c:v>50000</c:v>
                </c:pt>
              </c:numCache>
            </c:numRef>
          </c:val>
        </c:ser>
        <c:dLbls>
          <c:numFmt formatCode="#&quot;.&quot;000;;;" sourceLinked="0"/>
          <c:txPr>
            <a:bodyPr/>
            <a:lstStyle/>
            <a:p>
              <a:pPr>
                <a:defRPr b="1" i="0" strike="noStrike" sz="1600" u="none">
                  <a:solidFill>
                    <a:srgbClr val="001389"/>
                  </a:solidFill>
                  <a:latin typeface="Arial"/>
                </a:defRPr>
              </a:pPr>
            </a:p>
          </c:txPr>
          <c:showLegendKey val="0"/>
          <c:showVal val="1"/>
          <c:showCatName val="0"/>
          <c:showSerName val="0"/>
          <c:showPercent val="0"/>
          <c:showBubbleSize val="0"/>
          <c:showLeaderLines val="0"/>
        </c:dLbls>
        <c:gapWidth val="45"/>
        <c:overlap val="10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400" b="0" i="0" u="none" strike="noStrike">
                <a:solidFill>
                  <a:srgbClr val="001389"/>
                </a:solidFill>
                <a:latin typeface="Arial"/>
              </a:defRPr>
            </a:pPr>
            <a:endParaRPr lang="en-US"/>
          </a:p>
        </c:txPr>
        <c:crossAx val="2094734552"/>
        <c:crosses val="autoZero"/>
        <c:auto val="1"/>
        <c:lblAlgn val="ctr"/>
        <c:noMultiLvlLbl val="1"/>
      </c:catAx>
      <c:valAx>
        <c:axId val="2094734552"/>
        <c:scaling>
          <c:orientation val="minMax"/>
          <c:max val="440000"/>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 sulla copertina: guarda il pubblico, non lo schermo]
Pensate a un ragazzo che torna da un allenamento. Magari vostro figlio.
Qual è la prima cosa che gli chiediamo?
«Quanto hai fatto?» «In quanto tempo?» «Chi ha vinto?»
Quasi mai gli chiediamo: «Come ti senti?»
Eppure, nella nostra ricerca su 142 giovani, tra chi fa sport più di 8 su 10 lo fa proprio per questo. Per stare bene. Per scaricare lo stress. Non per il risultato.
[CLIC] Ora pensate a Dole.
Un marchio solido. Più di 130 sponsorizzazioni sportive attive.
Eppure, quando abbiamo chiesto ai giovani di nominare una marca di frutta, Dole è venuta in mente a 6 su 100.
Con il nome davanti, la riconosce il 40%.
Dole è conosciuta. Ma non è ancora ricordata.
[CLIC] Perché? Tre motivi.
Primo: Dole vende tramite la grande distribuzione, senza contatto diretto con chi mangia la sua frutta.
Secondo: allo scaffale la marca è l'ultimo fattore di scelta.
Terzo: le sponsorizzazioni sono tante, ma nessun filo le unisce.
E intanto i giovani i nuovi marchi li scoprono altrove: agli eventi sportivi e sui social. Non al supermercato.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Quindi, cosa vogliamo cambiare?
Un obiettivo: fare di Dole il marchio alimentare dello sport vissuto come benessere, per chi ha tra i 15 e i 30 anni.
Quattro cambiamenti.
[CLIC] Da conosciuta a ricordata: chi pensa a Dole da solo, dal 6 all'8%. Chi la riconosce, dal 40 al 45%.
[CLIC] Da scaffale a relazione: 800 iscritti ai Fruit Up Club. Il primo contatto diretto tra Dole e i ragazzi.
[CLIC] Da assente a presente: su TikTok, da zero a 5.000 follower.
[CLIC] Da eventi isolati a sistema: un solo format, riconoscibile ovunque.
Sembrano numeri piccoli. Ma secondo Nielsen, un punto di notorietà guadagnato con una sponsorizzazione vale in media circa l'1% di vendite.
E ogni numero si misura: una ricerca prima, una dopo.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Come ci arriviamo? La nostra proposta si chiama Dole Fruit Up. Fruit Up. Feel Good.
Non una campagna: una piattaforma. Tre scelte.
Il partner: FederCUSI, la federazione dello sport universitario. Un solo interlocutore per entrare nei CUS, i Centri Universitari Sportivi, di tutta Italia. È lì che vivono i ragazzi.
Il pilota: Just The Woman I Am, Torino, marzo 2027. Tre giorni in Piazza Castello, 33.000 iscritti, una giornata per le scuole. E una causa, ricerca sul cancro e prevenzione, in linea con la missione di Dole: un mondo più sano.
Poi, il percorso.
Nel Villaggio della Prevenzione gli studenti ricevono il kit Farm Code: scoprono da dove arriva, esattamente, la loro frutta.
All'arrivo della corsa trovano la Fruit Up Zone. Frutta. Un'area relax. Niente classifiche. Niente cronometri.
[CLIC] E un muro. Sei metri. Una sola domanda: «Oggi come ti senti?»
Chi risponde, con un QR si iscrive al Fruit Up Club della sua città: sport ogni settimana, senza agonismo.
Le risposte diventano contenuti social. I micro-creator ci mettono il linguaggio. I nutrizionisti, la credibilità: più di 7 ragazzi su 10 si fidano di loro.
Così tre giorni di evento diventano un mese di contenuti. E una community che resta tutto l'anno.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 soprattutto: Fruit Up si replica.
Dopo Torino, lo stesso format entra in appuntamenti che esistono già. I Campionati Nazionali Universitari. Le settimane delle matricole. I tornei interfacoltà. Le giornate nelle scuole.
Il primo allestimento costa 32.000 euro. Ogni CUS in più, circa 2.000.
Dieci CUS con un format completo costerebbero circa 320.000 euro. Con Fruit Up, 50.000.
Il design si paga una volta. Poi si replica.
E già nel 2027 lo stesso kit può entrare in tre sponsorizzazioni di Dole: le maratone di Roma e Milano, Swim the Island, la Dole Basket Rimini. Dal 2028, in ogni rinnovo.
Tutto dentro 200.000 euro l'anno. Senza cambiare prodotto, prezzo o distribuzione.
In molti eventi che sponsorizza, Dole la frutta la porta già. Con Fruit Up, da fornitore diventa autore.
[CLIC] FINALE (non guardare più lo schermo)
All'inizio vi ho chiesto cosa chiediamo a un ragazzo dopo lo sport. «Quanto hai fatto?»
La nostra proposta è che, alla fine di ogni evento Dole, la domanda sia un'altra.
E che diventi la firma di un marchio che oggi è conosciuto… e domani, finalmente, ricordato.
«Oggi come ti senti?»
Fruit Up. Feel Good.
Grazie a Dole per questa sfida. E grazie a tutti voi.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2.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slideLayout" Target="../slideLayouts/slideLayout1.xml"/><Relationship Id="rId8"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1.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2" Type="http://schemas.openxmlformats.org/officeDocument/2006/relationships/chart" Target="/ppt/charts/chart1.xml"/><Relationship Id="rId1" Type="http://schemas.openxmlformats.org/officeDocument/2006/relationships/image" Target="../media/image-4-1.png"/><Relationship Id="rId3" Type="http://schemas.openxmlformats.org/officeDocument/2006/relationships/image" Target="../media/image-4-2.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75BC20"/>
        </a:solidFill>
      </p:bgPr>
    </p:bg>
    <p:spTree>
      <p:nvGrpSpPr>
        <p:cNvPr id="1" name=""/>
        <p:cNvGrpSpPr/>
        <p:nvPr/>
      </p:nvGrpSpPr>
      <p:grpSpPr>
        <a:xfrm>
          <a:off x="0" y="0"/>
          <a:ext cx="0" cy="0"/>
          <a:chOff x="0" y="0"/>
          <a:chExt cx="0" cy="0"/>
        </a:xfrm>
      </p:grpSpPr>
      <p:sp>
        <p:nvSpPr>
          <p:cNvPr id="3" name="cover_card"/>
          <p:cNvSpPr/>
          <p:nvPr/>
        </p:nvSpPr>
        <p:spPr>
          <a:xfrm>
            <a:off x="201168" y="201168"/>
            <a:ext cx="11789359" cy="6455664"/>
          </a:xfrm>
          <a:prstGeom prst="roundRect">
            <a:avLst>
              <a:gd name="adj" fmla="val 4249"/>
            </a:avLst>
          </a:prstGeom>
          <a:solidFill>
            <a:srgbClr val="001389"/>
          </a:solidFill>
          <a:ln w="12700">
            <a:solidFill>
              <a:srgbClr val="001389"/>
            </a:solidFill>
            <a:prstDash val="solid"/>
          </a:ln>
        </p:spPr>
      </p:sp>
      <p:pic>
        <p:nvPicPr>
          <p:cNvPr id="4" name="cover_dots" descr="preencoded.png">    </p:cNvPr>
          <p:cNvPicPr>
            <a:picLocks noChangeAspect="1"/>
          </p:cNvPicPr>
          <p:nvPr/>
        </p:nvPicPr>
        <p:blipFill>
          <a:blip r:embed="rId1"/>
          <a:stretch>
            <a:fillRect/>
          </a:stretch>
        </p:blipFill>
        <p:spPr>
          <a:xfrm>
            <a:off x="7635240" y="411480"/>
            <a:ext cx="4206240" cy="6035040"/>
          </a:xfrm>
          <a:prstGeom prst="rect">
            <a:avLst/>
          </a:prstGeom>
        </p:spPr>
      </p:pic>
      <p:sp>
        <p:nvSpPr>
          <p:cNvPr id="5" name="cover_logobg"/>
          <p:cNvSpPr/>
          <p:nvPr/>
        </p:nvSpPr>
        <p:spPr>
          <a:xfrm>
            <a:off x="822960" y="868680"/>
            <a:ext cx="1737360" cy="914400"/>
          </a:xfrm>
          <a:prstGeom prst="roundRect">
            <a:avLst>
              <a:gd name="adj" fmla="val 20000"/>
            </a:avLst>
          </a:prstGeom>
          <a:solidFill>
            <a:srgbClr val="FFFFFF"/>
          </a:solidFill>
          <a:ln w="12700">
            <a:solidFill>
              <a:srgbClr val="FFFFFF"/>
            </a:solidFill>
            <a:prstDash val="solid"/>
          </a:ln>
        </p:spPr>
      </p:sp>
      <p:pic>
        <p:nvPicPr>
          <p:cNvPr id="6" name="cover_logo" descr="img/dole_logo.png">    </p:cNvPr>
          <p:cNvPicPr>
            <a:picLocks noChangeAspect="1"/>
          </p:cNvPicPr>
          <p:nvPr/>
        </p:nvPicPr>
        <p:blipFill>
          <a:blip r:embed="rId2"/>
          <a:stretch>
            <a:fillRect/>
          </a:stretch>
        </p:blipFill>
        <p:spPr>
          <a:xfrm>
            <a:off x="987552" y="941832"/>
            <a:ext cx="1408176" cy="715133"/>
          </a:xfrm>
          <a:prstGeom prst="rect">
            <a:avLst/>
          </a:prstGeom>
        </p:spPr>
      </p:pic>
      <p:sp>
        <p:nvSpPr>
          <p:cNvPr id="7" name="cover_title"/>
          <p:cNvSpPr txBox="1"/>
          <p:nvPr/>
        </p:nvSpPr>
        <p:spPr>
          <a:xfrm>
            <a:off x="822960" y="2057400"/>
            <a:ext cx="6583680" cy="1325880"/>
          </a:xfrm>
          <a:prstGeom prst="rect">
            <a:avLst/>
          </a:prstGeom>
          <a:noFill/>
          <a:ln/>
        </p:spPr>
        <p:txBody>
          <a:bodyPr wrap="square" lIns="0" tIns="0" rIns="0" bIns="0" rtlCol="0" anchor="t"/>
          <a:lstStyle/>
          <a:p>
            <a:pPr indent="0" marL="0">
              <a:buNone/>
            </a:pPr>
            <a:r>
              <a:rPr lang="en-US" sz="8800" b="1" i="1" dirty="0">
                <a:solidFill>
                  <a:srgbClr val="FFFFFF"/>
                </a:solidFill>
                <a:latin typeface="Cambria" pitchFamily="34" charset="0"/>
                <a:ea typeface="Cambria" pitchFamily="34" charset="-122"/>
                <a:cs typeface="Cambria" pitchFamily="34" charset="-120"/>
              </a:rPr>
              <a:t>Fruit Up</a:t>
            </a:r>
            <a:endParaRPr lang="en-US" sz="8800" dirty="0"/>
          </a:p>
        </p:txBody>
      </p:sp>
      <p:sp>
        <p:nvSpPr>
          <p:cNvPr id="8" name="cover_claim"/>
          <p:cNvSpPr txBox="1"/>
          <p:nvPr/>
        </p:nvSpPr>
        <p:spPr>
          <a:xfrm>
            <a:off x="868680" y="3429000"/>
            <a:ext cx="6583680" cy="548640"/>
          </a:xfrm>
          <a:prstGeom prst="rect">
            <a:avLst/>
          </a:prstGeom>
          <a:noFill/>
          <a:ln/>
        </p:spPr>
        <p:txBody>
          <a:bodyPr wrap="square" lIns="0" tIns="0" rIns="0" bIns="0" rtlCol="0" anchor="t"/>
          <a:lstStyle/>
          <a:p>
            <a:pPr indent="0" marL="0">
              <a:buNone/>
            </a:pPr>
            <a:r>
              <a:rPr lang="en-US" sz="3000" i="1" dirty="0">
                <a:solidFill>
                  <a:srgbClr val="75BC20"/>
                </a:solidFill>
                <a:latin typeface="Cambria" pitchFamily="34" charset="0"/>
                <a:ea typeface="Cambria" pitchFamily="34" charset="-122"/>
                <a:cs typeface="Cambria" pitchFamily="34" charset="-120"/>
              </a:rPr>
              <a:t>Fruit Up. Feel Good.</a:t>
            </a:r>
            <a:endParaRPr lang="en-US" sz="3000" dirty="0"/>
          </a:p>
        </p:txBody>
      </p:sp>
      <p:sp>
        <p:nvSpPr>
          <p:cNvPr id="9" name="cover_names"/>
          <p:cNvSpPr txBox="1"/>
          <p:nvPr/>
        </p:nvSpPr>
        <p:spPr>
          <a:xfrm>
            <a:off x="868680" y="5440680"/>
            <a:ext cx="6583680" cy="365760"/>
          </a:xfrm>
          <a:prstGeom prst="rect">
            <a:avLst/>
          </a:prstGeom>
          <a:noFill/>
          <a:ln/>
        </p:spPr>
        <p:txBody>
          <a:bodyPr wrap="square" lIns="0" tIns="0" rIns="0" bIns="0" rtlCol="0" anchor="t"/>
          <a:lstStyle/>
          <a:p>
            <a:pPr indent="0" marL="0">
              <a:buNone/>
            </a:pPr>
            <a:r>
              <a:rPr lang="en-US" sz="1600" dirty="0">
                <a:solidFill>
                  <a:srgbClr val="FFF9E3"/>
                </a:solidFill>
                <a:latin typeface="Arial" pitchFamily="34" charset="0"/>
                <a:ea typeface="Arial" pitchFamily="34" charset="-122"/>
                <a:cs typeface="Arial" pitchFamily="34" charset="-120"/>
              </a:rPr>
              <a:t>Alessio Veizaj  ·  Federica Genoese  ·  Giorgia Rinaldi</a:t>
            </a:r>
            <a:endParaRPr lang="en-US" sz="1600" dirty="0"/>
          </a:p>
        </p:txBody>
      </p:sp>
      <p:sp>
        <p:nvSpPr>
          <p:cNvPr id="10" name="C1_card"/>
          <p:cNvSpPr/>
          <p:nvPr/>
        </p:nvSpPr>
        <p:spPr>
          <a:xfrm>
            <a:off x="201168" y="201168"/>
            <a:ext cx="11789359" cy="6455664"/>
          </a:xfrm>
          <a:prstGeom prst="roundRect">
            <a:avLst>
              <a:gd name="adj" fmla="val 4249"/>
            </a:avLst>
          </a:prstGeom>
          <a:solidFill>
            <a:srgbClr val="FFF9E3"/>
          </a:solidFill>
          <a:ln w="12700">
            <a:solidFill>
              <a:srgbClr val="FFF9E3"/>
            </a:solidFill>
            <a:prstDash val="solid"/>
          </a:ln>
        </p:spPr>
      </p:sp>
      <p:pic>
        <p:nvPicPr>
          <p:cNvPr id="11" name="C1_logo" descr="img/dole_logo.png">    </p:cNvPr>
          <p:cNvPicPr>
            <a:picLocks noChangeAspect="1"/>
          </p:cNvPicPr>
          <p:nvPr/>
        </p:nvPicPr>
        <p:blipFill>
          <a:blip r:embed="rId3"/>
          <a:stretch>
            <a:fillRect/>
          </a:stretch>
        </p:blipFill>
        <p:spPr>
          <a:xfrm>
            <a:off x="10515600" y="457200"/>
            <a:ext cx="987552" cy="501522"/>
          </a:xfrm>
          <a:prstGeom prst="rect">
            <a:avLst/>
          </a:prstGeom>
        </p:spPr>
      </p:pic>
      <p:sp>
        <p:nvSpPr>
          <p:cNvPr id="12" name="C1_kicker"/>
          <p:cNvSpPr txBox="1"/>
          <p:nvPr/>
        </p:nvSpPr>
        <p:spPr>
          <a:xfrm>
            <a:off x="685800" y="475488"/>
            <a:ext cx="9326880" cy="292608"/>
          </a:xfrm>
          <a:prstGeom prst="rect">
            <a:avLst/>
          </a:prstGeom>
          <a:noFill/>
          <a:ln/>
        </p:spPr>
        <p:txBody>
          <a:bodyPr wrap="square" lIns="0" tIns="0" rIns="0" bIns="0" rtlCol="0" anchor="t"/>
          <a:lstStyle/>
          <a:p>
            <a:pPr indent="0" marL="0">
              <a:buNone/>
            </a:pPr>
            <a:r>
              <a:rPr lang="en-US" sz="1300" b="1" spc="150" kern="0" dirty="0">
                <a:solidFill>
                  <a:srgbClr val="C70F2E"/>
                </a:solidFill>
                <a:latin typeface="Arial" pitchFamily="34" charset="0"/>
                <a:ea typeface="Arial" pitchFamily="34" charset="-122"/>
                <a:cs typeface="Arial" pitchFamily="34" charset="-120"/>
              </a:rPr>
              <a:t>DA DOVE NASCE IL PROBLEMA?</a:t>
            </a:r>
            <a:endParaRPr lang="en-US" sz="1300" dirty="0"/>
          </a:p>
        </p:txBody>
      </p:sp>
      <p:sp>
        <p:nvSpPr>
          <p:cNvPr id="13" name="C1_title"/>
          <p:cNvSpPr txBox="1"/>
          <p:nvPr/>
        </p:nvSpPr>
        <p:spPr>
          <a:xfrm>
            <a:off x="685800" y="822960"/>
            <a:ext cx="9692640" cy="658368"/>
          </a:xfrm>
          <a:prstGeom prst="rect">
            <a:avLst/>
          </a:prstGeom>
          <a:noFill/>
          <a:ln/>
        </p:spPr>
        <p:txBody>
          <a:bodyPr wrap="square" lIns="0" tIns="0" rIns="0" bIns="0" rtlCol="0" anchor="t"/>
          <a:lstStyle/>
          <a:p>
            <a:pPr indent="0" marL="0">
              <a:buNone/>
            </a:pPr>
            <a:r>
              <a:rPr lang="en-US" sz="3400" b="1" dirty="0">
                <a:solidFill>
                  <a:srgbClr val="001389"/>
                </a:solidFill>
                <a:latin typeface="Arial" pitchFamily="34" charset="0"/>
                <a:ea typeface="Arial" pitchFamily="34" charset="-122"/>
                <a:cs typeface="Arial" pitchFamily="34" charset="-120"/>
              </a:rPr>
              <a:t>Conosciuta. Ma non ancora ricordata.</a:t>
            </a:r>
            <a:endParaRPr lang="en-US" sz="3400" dirty="0"/>
          </a:p>
        </p:txBody>
      </p:sp>
      <p:sp>
        <p:nvSpPr>
          <p:cNvPr id="14" name="C1_n130"/>
          <p:cNvSpPr txBox="1"/>
          <p:nvPr/>
        </p:nvSpPr>
        <p:spPr>
          <a:xfrm>
            <a:off x="685800" y="2331720"/>
            <a:ext cx="3291840" cy="1325880"/>
          </a:xfrm>
          <a:prstGeom prst="rect">
            <a:avLst/>
          </a:prstGeom>
          <a:noFill/>
          <a:ln/>
        </p:spPr>
        <p:txBody>
          <a:bodyPr wrap="square" lIns="0" tIns="0" rIns="0" bIns="0" rtlCol="0" anchor="ctr"/>
          <a:lstStyle/>
          <a:p>
            <a:pPr algn="ctr" indent="0" marL="0">
              <a:buNone/>
            </a:pPr>
            <a:r>
              <a:rPr lang="en-US" sz="9200" b="1" dirty="0">
                <a:solidFill>
                  <a:srgbClr val="75BC20"/>
                </a:solidFill>
                <a:latin typeface="Arial" pitchFamily="34" charset="0"/>
                <a:ea typeface="Arial" pitchFamily="34" charset="-122"/>
                <a:cs typeface="Arial" pitchFamily="34" charset="-120"/>
              </a:rPr>
              <a:t>130+</a:t>
            </a:r>
            <a:endParaRPr lang="en-US" sz="9200" dirty="0"/>
          </a:p>
        </p:txBody>
      </p:sp>
      <p:sp>
        <p:nvSpPr>
          <p:cNvPr id="15" name="C1_l130"/>
          <p:cNvSpPr txBox="1"/>
          <p:nvPr/>
        </p:nvSpPr>
        <p:spPr>
          <a:xfrm>
            <a:off x="685800" y="4389120"/>
            <a:ext cx="3291840" cy="411480"/>
          </a:xfrm>
          <a:prstGeom prst="rect">
            <a:avLst/>
          </a:prstGeom>
          <a:noFill/>
          <a:ln/>
        </p:spPr>
        <p:txBody>
          <a:bodyPr wrap="square" lIns="0" tIns="0" rIns="0" bIns="0" rtlCol="0" anchor="t"/>
          <a:lstStyle/>
          <a:p>
            <a:pPr algn="ctr" indent="0" marL="0">
              <a:buNone/>
            </a:pPr>
            <a:r>
              <a:rPr lang="en-US" sz="1700" dirty="0">
                <a:solidFill>
                  <a:srgbClr val="001389"/>
                </a:solidFill>
                <a:latin typeface="Arial" pitchFamily="34" charset="0"/>
                <a:ea typeface="Arial" pitchFamily="34" charset="-122"/>
                <a:cs typeface="Arial" pitchFamily="34" charset="-120"/>
              </a:rPr>
              <a:t>sponsorizzazioni sportive attive</a:t>
            </a:r>
            <a:endParaRPr lang="en-US" sz="1700" dirty="0"/>
          </a:p>
        </p:txBody>
      </p:sp>
      <p:sp>
        <p:nvSpPr>
          <p:cNvPr id="16" name="C1_c6"/>
          <p:cNvSpPr/>
          <p:nvPr/>
        </p:nvSpPr>
        <p:spPr>
          <a:xfrm>
            <a:off x="5047331" y="2532731"/>
            <a:ext cx="969578" cy="969578"/>
          </a:xfrm>
          <a:prstGeom prst="ellipse">
            <a:avLst/>
          </a:prstGeom>
          <a:solidFill>
            <a:srgbClr val="C70F2E"/>
          </a:solidFill>
          <a:ln w="12700">
            <a:solidFill>
              <a:srgbClr val="C70F2E"/>
            </a:solidFill>
            <a:prstDash val="solid"/>
          </a:ln>
        </p:spPr>
      </p:sp>
      <p:sp>
        <p:nvSpPr>
          <p:cNvPr id="17" name="C1_n6"/>
          <p:cNvSpPr txBox="1"/>
          <p:nvPr/>
        </p:nvSpPr>
        <p:spPr>
          <a:xfrm>
            <a:off x="4800600" y="2743200"/>
            <a:ext cx="1463040" cy="548640"/>
          </a:xfrm>
          <a:prstGeom prst="rect">
            <a:avLst/>
          </a:prstGeom>
          <a:noFill/>
          <a:ln/>
        </p:spPr>
        <p:txBody>
          <a:bodyPr wrap="square" lIns="0" tIns="0" rIns="0" bIns="0" rtlCol="0" anchor="ctr"/>
          <a:lstStyle/>
          <a:p>
            <a:pPr algn="ctr" indent="0" marL="0">
              <a:buNone/>
            </a:pPr>
            <a:r>
              <a:rPr lang="en-US" sz="2600" b="1" dirty="0">
                <a:solidFill>
                  <a:srgbClr val="FFFFFF"/>
                </a:solidFill>
                <a:latin typeface="Arial" pitchFamily="34" charset="0"/>
                <a:ea typeface="Arial" pitchFamily="34" charset="-122"/>
                <a:cs typeface="Arial" pitchFamily="34" charset="-120"/>
              </a:rPr>
              <a:t>6%</a:t>
            </a:r>
            <a:endParaRPr lang="en-US" sz="2600" dirty="0"/>
          </a:p>
        </p:txBody>
      </p:sp>
      <p:sp>
        <p:nvSpPr>
          <p:cNvPr id="18" name="C1_l6"/>
          <p:cNvSpPr txBox="1"/>
          <p:nvPr/>
        </p:nvSpPr>
        <p:spPr>
          <a:xfrm>
            <a:off x="3977640" y="4389120"/>
            <a:ext cx="3108960" cy="411480"/>
          </a:xfrm>
          <a:prstGeom prst="rect">
            <a:avLst/>
          </a:prstGeom>
          <a:noFill/>
          <a:ln/>
        </p:spPr>
        <p:txBody>
          <a:bodyPr wrap="square" lIns="0" tIns="0" rIns="0" bIns="0" rtlCol="0" anchor="t"/>
          <a:lstStyle/>
          <a:p>
            <a:pPr algn="ctr" indent="0" marL="0">
              <a:buNone/>
            </a:pPr>
            <a:r>
              <a:rPr lang="en-US" sz="1700" dirty="0">
                <a:solidFill>
                  <a:srgbClr val="001389"/>
                </a:solidFill>
                <a:latin typeface="Arial" pitchFamily="34" charset="0"/>
                <a:ea typeface="Arial" pitchFamily="34" charset="-122"/>
                <a:cs typeface="Arial" pitchFamily="34" charset="-120"/>
              </a:rPr>
              <a:t>pensa a Dole da solo</a:t>
            </a:r>
            <a:endParaRPr lang="en-US" sz="1700" dirty="0"/>
          </a:p>
        </p:txBody>
      </p:sp>
      <p:sp>
        <p:nvSpPr>
          <p:cNvPr id="19" name="C1_c40"/>
          <p:cNvSpPr/>
          <p:nvPr/>
        </p:nvSpPr>
        <p:spPr>
          <a:xfrm>
            <a:off x="7772400" y="1783080"/>
            <a:ext cx="2468880" cy="2468880"/>
          </a:xfrm>
          <a:prstGeom prst="ellipse">
            <a:avLst/>
          </a:prstGeom>
          <a:solidFill>
            <a:srgbClr val="001389"/>
          </a:solidFill>
          <a:ln w="12700">
            <a:solidFill>
              <a:srgbClr val="001389"/>
            </a:solidFill>
            <a:prstDash val="solid"/>
          </a:ln>
        </p:spPr>
      </p:sp>
      <p:sp>
        <p:nvSpPr>
          <p:cNvPr id="20" name="C1_n40"/>
          <p:cNvSpPr txBox="1"/>
          <p:nvPr/>
        </p:nvSpPr>
        <p:spPr>
          <a:xfrm>
            <a:off x="7909560" y="2606040"/>
            <a:ext cx="2194560" cy="822960"/>
          </a:xfrm>
          <a:prstGeom prst="rect">
            <a:avLst/>
          </a:prstGeom>
          <a:noFill/>
          <a:ln/>
        </p:spPr>
        <p:txBody>
          <a:bodyPr wrap="square" lIns="0" tIns="0" rIns="0" bIns="0" rtlCol="0" anchor="ctr"/>
          <a:lstStyle/>
          <a:p>
            <a:pPr algn="ctr" indent="0" marL="0">
              <a:buNone/>
            </a:pPr>
            <a:r>
              <a:rPr lang="en-US" sz="5400" b="1" dirty="0">
                <a:solidFill>
                  <a:srgbClr val="FFFFFF"/>
                </a:solidFill>
                <a:latin typeface="Arial" pitchFamily="34" charset="0"/>
                <a:ea typeface="Arial" pitchFamily="34" charset="-122"/>
                <a:cs typeface="Arial" pitchFamily="34" charset="-120"/>
              </a:rPr>
              <a:t>40%</a:t>
            </a:r>
            <a:endParaRPr lang="en-US" sz="5400" dirty="0"/>
          </a:p>
        </p:txBody>
      </p:sp>
      <p:sp>
        <p:nvSpPr>
          <p:cNvPr id="21" name="C1_l40"/>
          <p:cNvSpPr txBox="1"/>
          <p:nvPr/>
        </p:nvSpPr>
        <p:spPr>
          <a:xfrm>
            <a:off x="7452360" y="4389120"/>
            <a:ext cx="3108960" cy="411480"/>
          </a:xfrm>
          <a:prstGeom prst="rect">
            <a:avLst/>
          </a:prstGeom>
          <a:noFill/>
          <a:ln/>
        </p:spPr>
        <p:txBody>
          <a:bodyPr wrap="square" lIns="0" tIns="0" rIns="0" bIns="0" rtlCol="0" anchor="t"/>
          <a:lstStyle/>
          <a:p>
            <a:pPr algn="ctr" indent="0" marL="0">
              <a:buNone/>
            </a:pPr>
            <a:r>
              <a:rPr lang="en-US" sz="1700" dirty="0">
                <a:solidFill>
                  <a:srgbClr val="001389"/>
                </a:solidFill>
                <a:latin typeface="Arial" pitchFamily="34" charset="0"/>
                <a:ea typeface="Arial" pitchFamily="34" charset="-122"/>
                <a:cs typeface="Arial" pitchFamily="34" charset="-120"/>
              </a:rPr>
              <a:t>la riconosce dal nome</a:t>
            </a:r>
            <a:endParaRPr lang="en-US" sz="1700" dirty="0"/>
          </a:p>
        </p:txBody>
      </p:sp>
      <p:sp>
        <p:nvSpPr>
          <p:cNvPr id="22" name="C1_src"/>
          <p:cNvSpPr txBox="1"/>
          <p:nvPr/>
        </p:nvSpPr>
        <p:spPr>
          <a:xfrm>
            <a:off x="685800" y="6199632"/>
            <a:ext cx="4572000" cy="256032"/>
          </a:xfrm>
          <a:prstGeom prst="rect">
            <a:avLst/>
          </a:prstGeom>
          <a:noFill/>
          <a:ln/>
        </p:spPr>
        <p:txBody>
          <a:bodyPr wrap="square" lIns="0" tIns="0" rIns="0" bIns="0" rtlCol="0" anchor="t"/>
          <a:lstStyle/>
          <a:p>
            <a:pPr indent="0" marL="0">
              <a:buNone/>
            </a:pPr>
            <a:r>
              <a:rPr lang="en-US" sz="1000" dirty="0">
                <a:solidFill>
                  <a:srgbClr val="5F5D52"/>
                </a:solidFill>
                <a:latin typeface="Arial" pitchFamily="34" charset="0"/>
                <a:ea typeface="Arial" pitchFamily="34" charset="-122"/>
                <a:cs typeface="Arial" pitchFamily="34" charset="-120"/>
              </a:rPr>
              <a:t>Ricerca primaria · 142 giovani · 2026</a:t>
            </a:r>
            <a:endParaRPr lang="en-US" sz="1000" dirty="0"/>
          </a:p>
        </p:txBody>
      </p:sp>
      <p:sp>
        <p:nvSpPr>
          <p:cNvPr id="23" name="C1_names"/>
          <p:cNvSpPr txBox="1"/>
          <p:nvPr/>
        </p:nvSpPr>
        <p:spPr>
          <a:xfrm>
            <a:off x="6035040" y="6199632"/>
            <a:ext cx="5468112" cy="256032"/>
          </a:xfrm>
          <a:prstGeom prst="rect">
            <a:avLst/>
          </a:prstGeom>
          <a:noFill/>
          <a:ln/>
        </p:spPr>
        <p:txBody>
          <a:bodyPr wrap="square" lIns="0" tIns="0" rIns="0" bIns="0" rtlCol="0" anchor="t"/>
          <a:lstStyle/>
          <a:p>
            <a:pPr algn="r" indent="0" marL="0">
              <a:buNone/>
            </a:pPr>
            <a:r>
              <a:rPr lang="en-US" sz="1000" dirty="0">
                <a:solidFill>
                  <a:srgbClr val="5F5D52"/>
                </a:solidFill>
                <a:latin typeface="Arial" pitchFamily="34" charset="0"/>
                <a:ea typeface="Arial" pitchFamily="34" charset="-122"/>
                <a:cs typeface="Arial" pitchFamily="34" charset="-120"/>
              </a:rPr>
              <a:t>Alessio Veizaj · Federica Genoese · Giorgia Rinaldi</a:t>
            </a:r>
            <a:endParaRPr lang="en-US" sz="1000" dirty="0"/>
          </a:p>
        </p:txBody>
      </p:sp>
      <p:sp>
        <p:nvSpPr>
          <p:cNvPr id="24" name="C2_chip0"/>
          <p:cNvSpPr/>
          <p:nvPr/>
        </p:nvSpPr>
        <p:spPr>
          <a:xfrm>
            <a:off x="685800" y="5074920"/>
            <a:ext cx="3422904" cy="822960"/>
          </a:xfrm>
          <a:prstGeom prst="roundRect">
            <a:avLst>
              <a:gd name="adj" fmla="val 16667"/>
            </a:avLst>
          </a:prstGeom>
          <a:solidFill>
            <a:srgbClr val="FFFFFF"/>
          </a:solidFill>
          <a:ln w="12700">
            <a:solidFill>
              <a:srgbClr val="FFFFFF"/>
            </a:solidFill>
            <a:prstDash val="solid"/>
          </a:ln>
          <a:effectLst>
            <a:outerShdw sx="100000" sy="100000" kx="0" ky="0" algn="bl" rotWithShape="0" blurRad="76200" dist="19050" dir="5400000">
              <a:srgbClr val="000000">
                <a:alpha val="12000"/>
              </a:srgbClr>
            </a:outerShdw>
          </a:effectLst>
        </p:spPr>
      </p:sp>
      <p:sp>
        <p:nvSpPr>
          <p:cNvPr id="25" name="C2_dot0"/>
          <p:cNvSpPr/>
          <p:nvPr/>
        </p:nvSpPr>
        <p:spPr>
          <a:xfrm>
            <a:off x="868680" y="5230368"/>
            <a:ext cx="512064" cy="512064"/>
          </a:xfrm>
          <a:prstGeom prst="ellipse">
            <a:avLst/>
          </a:prstGeom>
          <a:solidFill>
            <a:srgbClr val="C70F2E"/>
          </a:solidFill>
          <a:ln w="12700">
            <a:solidFill>
              <a:srgbClr val="C70F2E"/>
            </a:solidFill>
            <a:prstDash val="solid"/>
          </a:ln>
        </p:spPr>
      </p:sp>
      <p:pic>
        <p:nvPicPr>
          <p:cNvPr id="26" name="C2_ico0" descr="preencoded.png">    </p:cNvPr>
          <p:cNvPicPr>
            <a:picLocks noChangeAspect="1"/>
          </p:cNvPicPr>
          <p:nvPr/>
        </p:nvPicPr>
        <p:blipFill>
          <a:blip r:embed="rId4"/>
          <a:stretch>
            <a:fillRect/>
          </a:stretch>
        </p:blipFill>
        <p:spPr>
          <a:xfrm>
            <a:off x="996696" y="5358384"/>
            <a:ext cx="256032" cy="256032"/>
          </a:xfrm>
          <a:prstGeom prst="rect">
            <a:avLst/>
          </a:prstGeom>
        </p:spPr>
      </p:pic>
      <p:sp>
        <p:nvSpPr>
          <p:cNvPr id="27" name="C2_txt0"/>
          <p:cNvSpPr txBox="1"/>
          <p:nvPr/>
        </p:nvSpPr>
        <p:spPr>
          <a:xfrm>
            <a:off x="1527048" y="5074920"/>
            <a:ext cx="2444496" cy="822960"/>
          </a:xfrm>
          <a:prstGeom prst="rect">
            <a:avLst/>
          </a:prstGeom>
          <a:noFill/>
          <a:ln/>
        </p:spPr>
        <p:txBody>
          <a:bodyPr wrap="square" lIns="0" tIns="0" rIns="0" bIns="0" rtlCol="0" anchor="ctr"/>
          <a:lstStyle/>
          <a:p>
            <a:pPr indent="0" marL="0">
              <a:buNone/>
            </a:pPr>
            <a:r>
              <a:rPr lang="en-US" sz="1500" b="1" dirty="0">
                <a:solidFill>
                  <a:srgbClr val="001389"/>
                </a:solidFill>
                <a:latin typeface="Arial" pitchFamily="34" charset="0"/>
                <a:ea typeface="Arial" pitchFamily="34" charset="-122"/>
                <a:cs typeface="Arial" pitchFamily="34" charset="-120"/>
              </a:rPr>
              <a:t>Vende tramite la grande distribuzione</a:t>
            </a:r>
            <a:endParaRPr lang="en-US" sz="1500" dirty="0"/>
          </a:p>
        </p:txBody>
      </p:sp>
      <p:sp>
        <p:nvSpPr>
          <p:cNvPr id="28" name="C2_chip1"/>
          <p:cNvSpPr/>
          <p:nvPr/>
        </p:nvSpPr>
        <p:spPr>
          <a:xfrm>
            <a:off x="4383024" y="5074920"/>
            <a:ext cx="3422904" cy="822960"/>
          </a:xfrm>
          <a:prstGeom prst="roundRect">
            <a:avLst>
              <a:gd name="adj" fmla="val 16667"/>
            </a:avLst>
          </a:prstGeom>
          <a:solidFill>
            <a:srgbClr val="FFFFFF"/>
          </a:solidFill>
          <a:ln w="12700">
            <a:solidFill>
              <a:srgbClr val="FFFFFF"/>
            </a:solidFill>
            <a:prstDash val="solid"/>
          </a:ln>
          <a:effectLst>
            <a:outerShdw sx="100000" sy="100000" kx="0" ky="0" algn="bl" rotWithShape="0" blurRad="76200" dist="19050" dir="5400000">
              <a:srgbClr val="000000">
                <a:alpha val="12000"/>
              </a:srgbClr>
            </a:outerShdw>
          </a:effectLst>
        </p:spPr>
      </p:sp>
      <p:sp>
        <p:nvSpPr>
          <p:cNvPr id="29" name="C2_dot1"/>
          <p:cNvSpPr/>
          <p:nvPr/>
        </p:nvSpPr>
        <p:spPr>
          <a:xfrm>
            <a:off x="4565904" y="5230368"/>
            <a:ext cx="512064" cy="512064"/>
          </a:xfrm>
          <a:prstGeom prst="ellipse">
            <a:avLst/>
          </a:prstGeom>
          <a:solidFill>
            <a:srgbClr val="001389"/>
          </a:solidFill>
          <a:ln w="12700">
            <a:solidFill>
              <a:srgbClr val="001389"/>
            </a:solidFill>
            <a:prstDash val="solid"/>
          </a:ln>
        </p:spPr>
      </p:sp>
      <p:pic>
        <p:nvPicPr>
          <p:cNvPr id="30" name="C2_ico1" descr="preencoded.png">    </p:cNvPr>
          <p:cNvPicPr>
            <a:picLocks noChangeAspect="1"/>
          </p:cNvPicPr>
          <p:nvPr/>
        </p:nvPicPr>
        <p:blipFill>
          <a:blip r:embed="rId5"/>
          <a:stretch>
            <a:fillRect/>
          </a:stretch>
        </p:blipFill>
        <p:spPr>
          <a:xfrm>
            <a:off x="4693920" y="5358384"/>
            <a:ext cx="256032" cy="256032"/>
          </a:xfrm>
          <a:prstGeom prst="rect">
            <a:avLst/>
          </a:prstGeom>
        </p:spPr>
      </p:pic>
      <p:sp>
        <p:nvSpPr>
          <p:cNvPr id="31" name="C2_txt1"/>
          <p:cNvSpPr txBox="1"/>
          <p:nvPr/>
        </p:nvSpPr>
        <p:spPr>
          <a:xfrm>
            <a:off x="5224272" y="5074920"/>
            <a:ext cx="2444496" cy="822960"/>
          </a:xfrm>
          <a:prstGeom prst="rect">
            <a:avLst/>
          </a:prstGeom>
          <a:noFill/>
          <a:ln/>
        </p:spPr>
        <p:txBody>
          <a:bodyPr wrap="square" lIns="0" tIns="0" rIns="0" bIns="0" rtlCol="0" anchor="ctr"/>
          <a:lstStyle/>
          <a:p>
            <a:pPr indent="0" marL="0">
              <a:buNone/>
            </a:pPr>
            <a:r>
              <a:rPr lang="en-US" sz="1500" b="1" dirty="0">
                <a:solidFill>
                  <a:srgbClr val="001389"/>
                </a:solidFill>
                <a:latin typeface="Arial" pitchFamily="34" charset="0"/>
                <a:ea typeface="Arial" pitchFamily="34" charset="-122"/>
                <a:cs typeface="Arial" pitchFamily="34" charset="-120"/>
              </a:rPr>
              <a:t>Allo scaffale la marca conta per ultima</a:t>
            </a:r>
            <a:endParaRPr lang="en-US" sz="1500" dirty="0"/>
          </a:p>
        </p:txBody>
      </p:sp>
      <p:sp>
        <p:nvSpPr>
          <p:cNvPr id="32" name="C2_chip2"/>
          <p:cNvSpPr/>
          <p:nvPr/>
        </p:nvSpPr>
        <p:spPr>
          <a:xfrm>
            <a:off x="8080248" y="5074920"/>
            <a:ext cx="3422904" cy="822960"/>
          </a:xfrm>
          <a:prstGeom prst="roundRect">
            <a:avLst>
              <a:gd name="adj" fmla="val 16667"/>
            </a:avLst>
          </a:prstGeom>
          <a:solidFill>
            <a:srgbClr val="FFFFFF"/>
          </a:solidFill>
          <a:ln w="12700">
            <a:solidFill>
              <a:srgbClr val="FFFFFF"/>
            </a:solidFill>
            <a:prstDash val="solid"/>
          </a:ln>
          <a:effectLst>
            <a:outerShdw sx="100000" sy="100000" kx="0" ky="0" algn="bl" rotWithShape="0" blurRad="76200" dist="19050" dir="5400000">
              <a:srgbClr val="000000">
                <a:alpha val="12000"/>
              </a:srgbClr>
            </a:outerShdw>
          </a:effectLst>
        </p:spPr>
      </p:sp>
      <p:sp>
        <p:nvSpPr>
          <p:cNvPr id="33" name="C2_dot2"/>
          <p:cNvSpPr/>
          <p:nvPr/>
        </p:nvSpPr>
        <p:spPr>
          <a:xfrm>
            <a:off x="8263128" y="5230368"/>
            <a:ext cx="512064" cy="512064"/>
          </a:xfrm>
          <a:prstGeom prst="ellipse">
            <a:avLst/>
          </a:prstGeom>
          <a:solidFill>
            <a:srgbClr val="75BC20"/>
          </a:solidFill>
          <a:ln w="12700">
            <a:solidFill>
              <a:srgbClr val="75BC20"/>
            </a:solidFill>
            <a:prstDash val="solid"/>
          </a:ln>
        </p:spPr>
      </p:sp>
      <p:pic>
        <p:nvPicPr>
          <p:cNvPr id="34" name="C2_ico2" descr="preencoded.png">    </p:cNvPr>
          <p:cNvPicPr>
            <a:picLocks noChangeAspect="1"/>
          </p:cNvPicPr>
          <p:nvPr/>
        </p:nvPicPr>
        <p:blipFill>
          <a:blip r:embed="rId6"/>
          <a:stretch>
            <a:fillRect/>
          </a:stretch>
        </p:blipFill>
        <p:spPr>
          <a:xfrm>
            <a:off x="8391144" y="5358384"/>
            <a:ext cx="256032" cy="256032"/>
          </a:xfrm>
          <a:prstGeom prst="rect">
            <a:avLst/>
          </a:prstGeom>
        </p:spPr>
      </p:pic>
      <p:sp>
        <p:nvSpPr>
          <p:cNvPr id="35" name="C2_txt2"/>
          <p:cNvSpPr txBox="1"/>
          <p:nvPr/>
        </p:nvSpPr>
        <p:spPr>
          <a:xfrm>
            <a:off x="8921496" y="5074920"/>
            <a:ext cx="2444496" cy="822960"/>
          </a:xfrm>
          <a:prstGeom prst="rect">
            <a:avLst/>
          </a:prstGeom>
          <a:noFill/>
          <a:ln/>
        </p:spPr>
        <p:txBody>
          <a:bodyPr wrap="square" lIns="0" tIns="0" rIns="0" bIns="0" rtlCol="0" anchor="ctr"/>
          <a:lstStyle/>
          <a:p>
            <a:pPr indent="0" marL="0">
              <a:buNone/>
            </a:pPr>
            <a:r>
              <a:rPr lang="en-US" sz="1500" b="1" dirty="0">
                <a:solidFill>
                  <a:srgbClr val="001389"/>
                </a:solidFill>
                <a:latin typeface="Arial" pitchFamily="34" charset="0"/>
                <a:ea typeface="Arial" pitchFamily="34" charset="-122"/>
                <a:cs typeface="Arial" pitchFamily="34" charset="-120"/>
              </a:rPr>
              <a:t>Sponsorizzazioni senza un filo comune</a:t>
            </a:r>
            <a:endParaRPr lang="en-US" sz="15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400"/>
                                        <p:tgtEl>
                                          <p:spTgt spid="12"/>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400"/>
                                        <p:tgtEl>
                                          <p:spTgt spid="13"/>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4"/>
                                        </p:tgtEl>
                                        <p:attrNameLst>
                                          <p:attrName>style.visibility</p:attrName>
                                        </p:attrNameLst>
                                      </p:cBhvr>
                                      <p:to>
                                        <p:strVal val="visible"/>
                                      </p:to>
                                    </p:set>
                                    <p:animEffect transition="in" filter="fade">
                                      <p:cBhvr>
                                        <p:cTn id="16" dur="400"/>
                                        <p:tgtEl>
                                          <p:spTgt spid="14"/>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5"/>
                                        </p:tgtEl>
                                        <p:attrNameLst>
                                          <p:attrName>style.visibility</p:attrName>
                                        </p:attrNameLst>
                                      </p:cBhvr>
                                      <p:to>
                                        <p:strVal val="visible"/>
                                      </p:to>
                                    </p:set>
                                    <p:animEffect transition="in" filter="fade">
                                      <p:cBhvr>
                                        <p:cTn id="19" dur="400"/>
                                        <p:tgtEl>
                                          <p:spTgt spid="15"/>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fade">
                                      <p:cBhvr>
                                        <p:cTn id="22" dur="400"/>
                                        <p:tgtEl>
                                          <p:spTgt spid="16"/>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7"/>
                                        </p:tgtEl>
                                        <p:attrNameLst>
                                          <p:attrName>style.visibility</p:attrName>
                                        </p:attrNameLst>
                                      </p:cBhvr>
                                      <p:to>
                                        <p:strVal val="visible"/>
                                      </p:to>
                                    </p:set>
                                    <p:animEffect transition="in" filter="fade">
                                      <p:cBhvr>
                                        <p:cTn id="25" dur="400"/>
                                        <p:tgtEl>
                                          <p:spTgt spid="17"/>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8"/>
                                        </p:tgtEl>
                                        <p:attrNameLst>
                                          <p:attrName>style.visibility</p:attrName>
                                        </p:attrNameLst>
                                      </p:cBhvr>
                                      <p:to>
                                        <p:strVal val="visible"/>
                                      </p:to>
                                    </p:set>
                                    <p:animEffect transition="in" filter="fade">
                                      <p:cBhvr>
                                        <p:cTn id="28" dur="400"/>
                                        <p:tgtEl>
                                          <p:spTgt spid="18"/>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9"/>
                                        </p:tgtEl>
                                        <p:attrNameLst>
                                          <p:attrName>style.visibility</p:attrName>
                                        </p:attrNameLst>
                                      </p:cBhvr>
                                      <p:to>
                                        <p:strVal val="visible"/>
                                      </p:to>
                                    </p:set>
                                    <p:animEffect transition="in" filter="fade">
                                      <p:cBhvr>
                                        <p:cTn id="31" dur="400"/>
                                        <p:tgtEl>
                                          <p:spTgt spid="19"/>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0"/>
                                        </p:tgtEl>
                                        <p:attrNameLst>
                                          <p:attrName>style.visibility</p:attrName>
                                        </p:attrNameLst>
                                      </p:cBhvr>
                                      <p:to>
                                        <p:strVal val="visible"/>
                                      </p:to>
                                    </p:set>
                                    <p:animEffect transition="in" filter="fade">
                                      <p:cBhvr>
                                        <p:cTn id="34" dur="400"/>
                                        <p:tgtEl>
                                          <p:spTgt spid="20"/>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21"/>
                                        </p:tgtEl>
                                        <p:attrNameLst>
                                          <p:attrName>style.visibility</p:attrName>
                                        </p:attrNameLst>
                                      </p:cBhvr>
                                      <p:to>
                                        <p:strVal val="visible"/>
                                      </p:to>
                                    </p:set>
                                    <p:animEffect transition="in" filter="fade">
                                      <p:cBhvr>
                                        <p:cTn id="37" dur="400"/>
                                        <p:tgtEl>
                                          <p:spTgt spid="21"/>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2"/>
                                        </p:tgtEl>
                                        <p:attrNameLst>
                                          <p:attrName>style.visibility</p:attrName>
                                        </p:attrNameLst>
                                      </p:cBhvr>
                                      <p:to>
                                        <p:strVal val="visible"/>
                                      </p:to>
                                    </p:set>
                                    <p:animEffect transition="in" filter="fade">
                                      <p:cBhvr>
                                        <p:cTn id="40" dur="400"/>
                                        <p:tgtEl>
                                          <p:spTgt spid="22"/>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3"/>
                                        </p:tgtEl>
                                        <p:attrNameLst>
                                          <p:attrName>style.visibility</p:attrName>
                                        </p:attrNameLst>
                                      </p:cBhvr>
                                      <p:to>
                                        <p:strVal val="visible"/>
                                      </p:to>
                                    </p:set>
                                    <p:animEffect transition="in" filter="fade">
                                      <p:cBhvr>
                                        <p:cTn id="43" dur="400"/>
                                        <p:tgtEl>
                                          <p:spTgt spid="23"/>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grpId="0" nodeType="clickEffect">
                                  <p:stCondLst>
                                    <p:cond delay="0"/>
                                  </p:stCondLst>
                                  <p:childTnLst>
                                    <p:set>
                                      <p:cBhvr>
                                        <p:cTn id="47" dur="1" fill="hold">
                                          <p:stCondLst>
                                            <p:cond delay="0"/>
                                          </p:stCondLst>
                                        </p:cTn>
                                        <p:tgtEl>
                                          <p:spTgt spid="24"/>
                                        </p:tgtEl>
                                        <p:attrNameLst>
                                          <p:attrName>style.visibility</p:attrName>
                                        </p:attrNameLst>
                                      </p:cBhvr>
                                      <p:to>
                                        <p:strVal val="visible"/>
                                      </p:to>
                                    </p:set>
                                    <p:animEffect transition="in" filter="fade">
                                      <p:cBhvr>
                                        <p:cTn id="48" dur="400"/>
                                        <p:tgtEl>
                                          <p:spTgt spid="24"/>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25"/>
                                        </p:tgtEl>
                                        <p:attrNameLst>
                                          <p:attrName>style.visibility</p:attrName>
                                        </p:attrNameLst>
                                      </p:cBhvr>
                                      <p:to>
                                        <p:strVal val="visible"/>
                                      </p:to>
                                    </p:set>
                                    <p:animEffect transition="in" filter="fade">
                                      <p:cBhvr>
                                        <p:cTn id="51" dur="400"/>
                                        <p:tgtEl>
                                          <p:spTgt spid="25"/>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27"/>
                                        </p:tgtEl>
                                        <p:attrNameLst>
                                          <p:attrName>style.visibility</p:attrName>
                                        </p:attrNameLst>
                                      </p:cBhvr>
                                      <p:to>
                                        <p:strVal val="visible"/>
                                      </p:to>
                                    </p:set>
                                    <p:animEffect transition="in" filter="fade">
                                      <p:cBhvr>
                                        <p:cTn id="54" dur="400"/>
                                        <p:tgtEl>
                                          <p:spTgt spid="27"/>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28"/>
                                        </p:tgtEl>
                                        <p:attrNameLst>
                                          <p:attrName>style.visibility</p:attrName>
                                        </p:attrNameLst>
                                      </p:cBhvr>
                                      <p:to>
                                        <p:strVal val="visible"/>
                                      </p:to>
                                    </p:set>
                                    <p:animEffect transition="in" filter="fade">
                                      <p:cBhvr>
                                        <p:cTn id="57" dur="400"/>
                                        <p:tgtEl>
                                          <p:spTgt spid="28"/>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29"/>
                                        </p:tgtEl>
                                        <p:attrNameLst>
                                          <p:attrName>style.visibility</p:attrName>
                                        </p:attrNameLst>
                                      </p:cBhvr>
                                      <p:to>
                                        <p:strVal val="visible"/>
                                      </p:to>
                                    </p:set>
                                    <p:animEffect transition="in" filter="fade">
                                      <p:cBhvr>
                                        <p:cTn id="60" dur="400"/>
                                        <p:tgtEl>
                                          <p:spTgt spid="29"/>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31"/>
                                        </p:tgtEl>
                                        <p:attrNameLst>
                                          <p:attrName>style.visibility</p:attrName>
                                        </p:attrNameLst>
                                      </p:cBhvr>
                                      <p:to>
                                        <p:strVal val="visible"/>
                                      </p:to>
                                    </p:set>
                                    <p:animEffect transition="in" filter="fade">
                                      <p:cBhvr>
                                        <p:cTn id="63" dur="400"/>
                                        <p:tgtEl>
                                          <p:spTgt spid="31"/>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32"/>
                                        </p:tgtEl>
                                        <p:attrNameLst>
                                          <p:attrName>style.visibility</p:attrName>
                                        </p:attrNameLst>
                                      </p:cBhvr>
                                      <p:to>
                                        <p:strVal val="visible"/>
                                      </p:to>
                                    </p:set>
                                    <p:animEffect transition="in" filter="fade">
                                      <p:cBhvr>
                                        <p:cTn id="66" dur="400"/>
                                        <p:tgtEl>
                                          <p:spTgt spid="32"/>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33"/>
                                        </p:tgtEl>
                                        <p:attrNameLst>
                                          <p:attrName>style.visibility</p:attrName>
                                        </p:attrNameLst>
                                      </p:cBhvr>
                                      <p:to>
                                        <p:strVal val="visible"/>
                                      </p:to>
                                    </p:set>
                                    <p:animEffect transition="in" filter="fade">
                                      <p:cBhvr>
                                        <p:cTn id="69" dur="400"/>
                                        <p:tgtEl>
                                          <p:spTgt spid="33"/>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35"/>
                                        </p:tgtEl>
                                        <p:attrNameLst>
                                          <p:attrName>style.visibility</p:attrName>
                                        </p:attrNameLst>
                                      </p:cBhvr>
                                      <p:to>
                                        <p:strVal val="visible"/>
                                      </p:to>
                                    </p:set>
                                    <p:animEffect transition="in" filter="fade">
                                      <p:cBhvr>
                                        <p:cTn id="72"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7" grpId="0" animBg="1"/>
      <p:bldP spid="28" grpId="0" animBg="1"/>
      <p:bldP spid="29" grpId="0" animBg="1"/>
      <p:bldP spid="31" grpId="0" animBg="1"/>
      <p:bldP spid="32" grpId="0" animBg="1"/>
      <p:bldP spid="33" grpId="0" animBg="1"/>
      <p:bldP spid="35"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75BC20"/>
        </a:solidFill>
      </p:bgPr>
    </p:bg>
    <p:spTree>
      <p:nvGrpSpPr>
        <p:cNvPr id="1" name=""/>
        <p:cNvGrpSpPr/>
        <p:nvPr/>
      </p:nvGrpSpPr>
      <p:grpSpPr>
        <a:xfrm>
          <a:off x="0" y="0"/>
          <a:ext cx="0" cy="0"/>
          <a:chOff x="0" y="0"/>
          <a:chExt cx="0" cy="0"/>
        </a:xfrm>
      </p:grpSpPr>
      <p:sp>
        <p:nvSpPr>
          <p:cNvPr id="3" name="card"/>
          <p:cNvSpPr/>
          <p:nvPr/>
        </p:nvSpPr>
        <p:spPr>
          <a:xfrm>
            <a:off x="201168" y="201168"/>
            <a:ext cx="11789359" cy="6455664"/>
          </a:xfrm>
          <a:prstGeom prst="roundRect">
            <a:avLst>
              <a:gd name="adj" fmla="val 4249"/>
            </a:avLst>
          </a:prstGeom>
          <a:solidFill>
            <a:srgbClr val="FFF9E3"/>
          </a:solidFill>
          <a:ln w="12700">
            <a:solidFill>
              <a:srgbClr val="FFF9E3"/>
            </a:solidFill>
            <a:prstDash val="solid"/>
          </a:ln>
        </p:spPr>
      </p:sp>
      <p:pic>
        <p:nvPicPr>
          <p:cNvPr id="4" name="logo" descr="img/dole_logo.png">    </p:cNvPr>
          <p:cNvPicPr>
            <a:picLocks noChangeAspect="1"/>
          </p:cNvPicPr>
          <p:nvPr/>
        </p:nvPicPr>
        <p:blipFill>
          <a:blip r:embed="rId1"/>
          <a:stretch>
            <a:fillRect/>
          </a:stretch>
        </p:blipFill>
        <p:spPr>
          <a:xfrm>
            <a:off x="10515600" y="457200"/>
            <a:ext cx="987552" cy="501522"/>
          </a:xfrm>
          <a:prstGeom prst="rect">
            <a:avLst/>
          </a:prstGeom>
        </p:spPr>
      </p:pic>
      <p:sp>
        <p:nvSpPr>
          <p:cNvPr id="5" name="kicker"/>
          <p:cNvSpPr txBox="1"/>
          <p:nvPr/>
        </p:nvSpPr>
        <p:spPr>
          <a:xfrm>
            <a:off x="685800" y="475488"/>
            <a:ext cx="9326880" cy="292608"/>
          </a:xfrm>
          <a:prstGeom prst="rect">
            <a:avLst/>
          </a:prstGeom>
          <a:noFill/>
          <a:ln/>
        </p:spPr>
        <p:txBody>
          <a:bodyPr wrap="square" lIns="0" tIns="0" rIns="0" bIns="0" rtlCol="0" anchor="t"/>
          <a:lstStyle/>
          <a:p>
            <a:pPr indent="0" marL="0">
              <a:buNone/>
            </a:pPr>
            <a:r>
              <a:rPr lang="en-US" sz="1300" b="1" spc="150" kern="0" dirty="0">
                <a:solidFill>
                  <a:srgbClr val="C70F2E"/>
                </a:solidFill>
                <a:latin typeface="Arial" pitchFamily="34" charset="0"/>
                <a:ea typeface="Arial" pitchFamily="34" charset="-122"/>
                <a:cs typeface="Arial" pitchFamily="34" charset="-120"/>
              </a:rPr>
              <a:t>COSA VOGLIAMO CAMBIARE?</a:t>
            </a:r>
            <a:endParaRPr lang="en-US" sz="1300" dirty="0"/>
          </a:p>
        </p:txBody>
      </p:sp>
      <p:sp>
        <p:nvSpPr>
          <p:cNvPr id="6" name="title"/>
          <p:cNvSpPr txBox="1"/>
          <p:nvPr/>
        </p:nvSpPr>
        <p:spPr>
          <a:xfrm>
            <a:off x="685800" y="822960"/>
            <a:ext cx="9692640" cy="658368"/>
          </a:xfrm>
          <a:prstGeom prst="rect">
            <a:avLst/>
          </a:prstGeom>
          <a:noFill/>
          <a:ln/>
        </p:spPr>
        <p:txBody>
          <a:bodyPr wrap="square" lIns="0" tIns="0" rIns="0" bIns="0" rtlCol="0" anchor="t"/>
          <a:lstStyle/>
          <a:p>
            <a:pPr indent="0" marL="0">
              <a:buNone/>
            </a:pPr>
            <a:r>
              <a:rPr lang="en-US" sz="3400" b="1" dirty="0">
                <a:solidFill>
                  <a:srgbClr val="001389"/>
                </a:solidFill>
                <a:latin typeface="Arial" pitchFamily="34" charset="0"/>
                <a:ea typeface="Arial" pitchFamily="34" charset="-122"/>
                <a:cs typeface="Arial" pitchFamily="34" charset="-120"/>
              </a:rPr>
              <a:t>Quattro cambiamenti, un obiettivo</a:t>
            </a:r>
            <a:endParaRPr lang="en-US" sz="3400" dirty="0"/>
          </a:p>
        </p:txBody>
      </p:sp>
      <p:sp>
        <p:nvSpPr>
          <p:cNvPr id="7" name="Text 3"/>
          <p:cNvSpPr txBox="1"/>
          <p:nvPr/>
        </p:nvSpPr>
        <p:spPr>
          <a:xfrm>
            <a:off x="685800" y="1517904"/>
            <a:ext cx="9692640" cy="384048"/>
          </a:xfrm>
          <a:prstGeom prst="rect">
            <a:avLst/>
          </a:prstGeom>
          <a:noFill/>
          <a:ln/>
        </p:spPr>
        <p:txBody>
          <a:bodyPr wrap="square" lIns="0" tIns="0" rIns="0" bIns="0" rtlCol="0" anchor="t"/>
          <a:lstStyle/>
          <a:p>
            <a:pPr indent="0" marL="0">
              <a:buNone/>
            </a:pPr>
            <a:r>
              <a:rPr lang="en-US" sz="1800" i="1" dirty="0">
                <a:solidFill>
                  <a:srgbClr val="1B1F3B"/>
                </a:solidFill>
                <a:latin typeface="Arial" pitchFamily="34" charset="0"/>
                <a:ea typeface="Arial" pitchFamily="34" charset="-122"/>
                <a:cs typeface="Arial" pitchFamily="34" charset="-120"/>
              </a:rPr>
              <a:t>Dole, il brand alimentare dello sport vissuto come benessere  ·  15-30 anni</a:t>
            </a:r>
            <a:endParaRPr lang="en-US" sz="1800" dirty="0"/>
          </a:p>
        </p:txBody>
      </p:sp>
      <p:sp>
        <p:nvSpPr>
          <p:cNvPr id="8" name="C1_card"/>
          <p:cNvSpPr/>
          <p:nvPr/>
        </p:nvSpPr>
        <p:spPr>
          <a:xfrm>
            <a:off x="685800" y="2148840"/>
            <a:ext cx="2498598" cy="3246120"/>
          </a:xfrm>
          <a:prstGeom prst="roundRect">
            <a:avLst>
              <a:gd name="adj" fmla="val 6587"/>
            </a:avLst>
          </a:prstGeom>
          <a:solidFill>
            <a:srgbClr val="FFFFFF"/>
          </a:solidFill>
          <a:ln w="12700">
            <a:solidFill>
              <a:srgbClr val="FFFFFF"/>
            </a:solidFill>
            <a:prstDash val="solid"/>
          </a:ln>
          <a:effectLst>
            <a:outerShdw sx="100000" sy="100000" kx="0" ky="0" algn="bl" rotWithShape="0" blurRad="76200" dist="19050" dir="5400000">
              <a:srgbClr val="000000">
                <a:alpha val="12000"/>
              </a:srgbClr>
            </a:outerShdw>
          </a:effectLst>
        </p:spPr>
      </p:sp>
      <p:sp>
        <p:nvSpPr>
          <p:cNvPr id="9" name="C1_dot"/>
          <p:cNvSpPr/>
          <p:nvPr/>
        </p:nvSpPr>
        <p:spPr>
          <a:xfrm>
            <a:off x="941832" y="2404872"/>
            <a:ext cx="566928" cy="566928"/>
          </a:xfrm>
          <a:prstGeom prst="ellipse">
            <a:avLst/>
          </a:prstGeom>
          <a:solidFill>
            <a:srgbClr val="C70F2E"/>
          </a:solidFill>
          <a:ln w="12700">
            <a:solidFill>
              <a:srgbClr val="C70F2E"/>
            </a:solidFill>
            <a:prstDash val="solid"/>
          </a:ln>
        </p:spPr>
      </p:sp>
      <p:pic>
        <p:nvPicPr>
          <p:cNvPr id="10" name="C1_ico" descr="preencoded.png">    </p:cNvPr>
          <p:cNvPicPr>
            <a:picLocks noChangeAspect="1"/>
          </p:cNvPicPr>
          <p:nvPr/>
        </p:nvPicPr>
        <p:blipFill>
          <a:blip r:embed="rId2"/>
          <a:stretch>
            <a:fillRect/>
          </a:stretch>
        </p:blipFill>
        <p:spPr>
          <a:xfrm>
            <a:off x="1083564" y="2546604"/>
            <a:ext cx="283464" cy="283464"/>
          </a:xfrm>
          <a:prstGeom prst="rect">
            <a:avLst/>
          </a:prstGeom>
        </p:spPr>
      </p:pic>
      <p:sp>
        <p:nvSpPr>
          <p:cNvPr id="11" name="C1_from"/>
          <p:cNvSpPr txBox="1"/>
          <p:nvPr/>
        </p:nvSpPr>
        <p:spPr>
          <a:xfrm>
            <a:off x="941832" y="3136392"/>
            <a:ext cx="2041398" cy="274320"/>
          </a:xfrm>
          <a:prstGeom prst="rect">
            <a:avLst/>
          </a:prstGeom>
          <a:noFill/>
          <a:ln/>
        </p:spPr>
        <p:txBody>
          <a:bodyPr wrap="square" lIns="0" tIns="0" rIns="0" bIns="0" rtlCol="0" anchor="t"/>
          <a:lstStyle/>
          <a:p>
            <a:pPr indent="0" marL="0">
              <a:buNone/>
            </a:pPr>
            <a:r>
              <a:rPr lang="en-US" sz="1400" dirty="0">
                <a:solidFill>
                  <a:srgbClr val="5F5D52"/>
                </a:solidFill>
                <a:latin typeface="Arial" pitchFamily="34" charset="0"/>
                <a:ea typeface="Arial" pitchFamily="34" charset="-122"/>
                <a:cs typeface="Arial" pitchFamily="34" charset="-120"/>
              </a:rPr>
              <a:t>Da conosciuta</a:t>
            </a:r>
            <a:endParaRPr lang="en-US" sz="1400" dirty="0"/>
          </a:p>
        </p:txBody>
      </p:sp>
      <p:sp>
        <p:nvSpPr>
          <p:cNvPr id="12" name="C1_to"/>
          <p:cNvSpPr txBox="1"/>
          <p:nvPr/>
        </p:nvSpPr>
        <p:spPr>
          <a:xfrm>
            <a:off x="941832" y="3392424"/>
            <a:ext cx="2041398" cy="411480"/>
          </a:xfrm>
          <a:prstGeom prst="rect">
            <a:avLst/>
          </a:prstGeom>
          <a:noFill/>
          <a:ln/>
        </p:spPr>
        <p:txBody>
          <a:bodyPr wrap="square" lIns="0" tIns="0" rIns="0" bIns="0" rtlCol="0" anchor="t"/>
          <a:lstStyle/>
          <a:p>
            <a:pPr indent="0" marL="0">
              <a:buNone/>
            </a:pPr>
            <a:r>
              <a:rPr lang="en-US" sz="2200" b="1" dirty="0">
                <a:solidFill>
                  <a:srgbClr val="C70F2E"/>
                </a:solidFill>
                <a:latin typeface="Arial" pitchFamily="34" charset="0"/>
                <a:ea typeface="Arial" pitchFamily="34" charset="-122"/>
                <a:cs typeface="Arial" pitchFamily="34" charset="-120"/>
              </a:rPr>
              <a:t>a ricordata</a:t>
            </a:r>
            <a:endParaRPr lang="en-US" sz="2200" dirty="0"/>
          </a:p>
        </p:txBody>
      </p:sp>
      <p:sp>
        <p:nvSpPr>
          <p:cNvPr id="13" name="C1_v1"/>
          <p:cNvSpPr txBox="1"/>
          <p:nvPr/>
        </p:nvSpPr>
        <p:spPr>
          <a:xfrm>
            <a:off x="941832" y="3959352"/>
            <a:ext cx="2041398" cy="457200"/>
          </a:xfrm>
          <a:prstGeom prst="rect">
            <a:avLst/>
          </a:prstGeom>
          <a:noFill/>
          <a:ln/>
        </p:spPr>
        <p:txBody>
          <a:bodyPr wrap="square" lIns="0" tIns="0" rIns="0" bIns="0" rtlCol="0" anchor="t"/>
          <a:lstStyle/>
          <a:p>
            <a:pPr indent="0" marL="0">
              <a:buNone/>
            </a:pPr>
            <a:r>
              <a:rPr lang="en-US" sz="2700" b="1" dirty="0">
                <a:solidFill>
                  <a:srgbClr val="001389"/>
                </a:solidFill>
                <a:latin typeface="Arial" pitchFamily="34" charset="0"/>
                <a:ea typeface="Arial" pitchFamily="34" charset="-122"/>
                <a:cs typeface="Arial" pitchFamily="34" charset="-120"/>
              </a:rPr>
              <a:t>6% → 8%</a:t>
            </a:r>
            <a:endParaRPr lang="en-US" sz="2700" dirty="0"/>
          </a:p>
        </p:txBody>
      </p:sp>
      <p:sp>
        <p:nvSpPr>
          <p:cNvPr id="14" name="C1_l1"/>
          <p:cNvSpPr txBox="1"/>
          <p:nvPr/>
        </p:nvSpPr>
        <p:spPr>
          <a:xfrm>
            <a:off x="941832" y="4398264"/>
            <a:ext cx="2041398" cy="274320"/>
          </a:xfrm>
          <a:prstGeom prst="rect">
            <a:avLst/>
          </a:prstGeom>
          <a:noFill/>
          <a:ln/>
        </p:spPr>
        <p:txBody>
          <a:bodyPr wrap="square" lIns="0" tIns="0" rIns="0" bIns="0" rtlCol="0" anchor="t"/>
          <a:lstStyle/>
          <a:p>
            <a:pPr indent="0" marL="0">
              <a:buNone/>
            </a:pPr>
            <a:r>
              <a:rPr lang="en-US" sz="1200" dirty="0">
                <a:solidFill>
                  <a:srgbClr val="5F5D52"/>
                </a:solidFill>
                <a:latin typeface="Arial" pitchFamily="34" charset="0"/>
                <a:ea typeface="Arial" pitchFamily="34" charset="-122"/>
                <a:cs typeface="Arial" pitchFamily="34" charset="-120"/>
              </a:rPr>
              <a:t>pensa a Dole da solo</a:t>
            </a:r>
            <a:endParaRPr lang="en-US" sz="1200" dirty="0"/>
          </a:p>
        </p:txBody>
      </p:sp>
      <p:sp>
        <p:nvSpPr>
          <p:cNvPr id="15" name="C1_v2"/>
          <p:cNvSpPr txBox="1"/>
          <p:nvPr/>
        </p:nvSpPr>
        <p:spPr>
          <a:xfrm>
            <a:off x="941832" y="4709160"/>
            <a:ext cx="2041398" cy="329184"/>
          </a:xfrm>
          <a:prstGeom prst="rect">
            <a:avLst/>
          </a:prstGeom>
          <a:noFill/>
          <a:ln/>
        </p:spPr>
        <p:txBody>
          <a:bodyPr wrap="square" lIns="0" tIns="0" rIns="0" bIns="0" rtlCol="0" anchor="t"/>
          <a:lstStyle/>
          <a:p>
            <a:pPr indent="0" marL="0">
              <a:buNone/>
            </a:pPr>
            <a:r>
              <a:rPr lang="en-US" sz="1800" b="1" dirty="0">
                <a:solidFill>
                  <a:srgbClr val="001389"/>
                </a:solidFill>
                <a:latin typeface="Arial" pitchFamily="34" charset="0"/>
                <a:ea typeface="Arial" pitchFamily="34" charset="-122"/>
                <a:cs typeface="Arial" pitchFamily="34" charset="-120"/>
              </a:rPr>
              <a:t>40% → 45%</a:t>
            </a:r>
            <a:endParaRPr lang="en-US" sz="1800" dirty="0"/>
          </a:p>
        </p:txBody>
      </p:sp>
      <p:sp>
        <p:nvSpPr>
          <p:cNvPr id="16" name="C1_l2"/>
          <p:cNvSpPr txBox="1"/>
          <p:nvPr/>
        </p:nvSpPr>
        <p:spPr>
          <a:xfrm>
            <a:off x="941832" y="5001768"/>
            <a:ext cx="2041398" cy="256032"/>
          </a:xfrm>
          <a:prstGeom prst="rect">
            <a:avLst/>
          </a:prstGeom>
          <a:noFill/>
          <a:ln/>
        </p:spPr>
        <p:txBody>
          <a:bodyPr wrap="square" lIns="0" tIns="0" rIns="0" bIns="0" rtlCol="0" anchor="t"/>
          <a:lstStyle/>
          <a:p>
            <a:pPr indent="0" marL="0">
              <a:buNone/>
            </a:pPr>
            <a:r>
              <a:rPr lang="en-US" sz="1200" dirty="0">
                <a:solidFill>
                  <a:srgbClr val="5F5D52"/>
                </a:solidFill>
                <a:latin typeface="Arial" pitchFamily="34" charset="0"/>
                <a:ea typeface="Arial" pitchFamily="34" charset="-122"/>
                <a:cs typeface="Arial" pitchFamily="34" charset="-120"/>
              </a:rPr>
              <a:t>la riconosce dal nome</a:t>
            </a:r>
            <a:endParaRPr lang="en-US" sz="1200" dirty="0"/>
          </a:p>
        </p:txBody>
      </p:sp>
      <p:sp>
        <p:nvSpPr>
          <p:cNvPr id="17" name="C2_card"/>
          <p:cNvSpPr/>
          <p:nvPr/>
        </p:nvSpPr>
        <p:spPr>
          <a:xfrm>
            <a:off x="3458718" y="2148840"/>
            <a:ext cx="2498598" cy="3246120"/>
          </a:xfrm>
          <a:prstGeom prst="roundRect">
            <a:avLst>
              <a:gd name="adj" fmla="val 6587"/>
            </a:avLst>
          </a:prstGeom>
          <a:solidFill>
            <a:srgbClr val="FFFFFF"/>
          </a:solidFill>
          <a:ln w="12700">
            <a:solidFill>
              <a:srgbClr val="FFFFFF"/>
            </a:solidFill>
            <a:prstDash val="solid"/>
          </a:ln>
          <a:effectLst>
            <a:outerShdw sx="100000" sy="100000" kx="0" ky="0" algn="bl" rotWithShape="0" blurRad="76200" dist="19050" dir="5400000">
              <a:srgbClr val="000000">
                <a:alpha val="12000"/>
              </a:srgbClr>
            </a:outerShdw>
          </a:effectLst>
        </p:spPr>
      </p:sp>
      <p:sp>
        <p:nvSpPr>
          <p:cNvPr id="18" name="C2_dot"/>
          <p:cNvSpPr/>
          <p:nvPr/>
        </p:nvSpPr>
        <p:spPr>
          <a:xfrm>
            <a:off x="3714750" y="2404872"/>
            <a:ext cx="566928" cy="566928"/>
          </a:xfrm>
          <a:prstGeom prst="ellipse">
            <a:avLst/>
          </a:prstGeom>
          <a:solidFill>
            <a:srgbClr val="75BC20"/>
          </a:solidFill>
          <a:ln w="12700">
            <a:solidFill>
              <a:srgbClr val="75BC20"/>
            </a:solidFill>
            <a:prstDash val="solid"/>
          </a:ln>
        </p:spPr>
      </p:sp>
      <p:pic>
        <p:nvPicPr>
          <p:cNvPr id="19" name="C2_ico" descr="preencoded.png">    </p:cNvPr>
          <p:cNvPicPr>
            <a:picLocks noChangeAspect="1"/>
          </p:cNvPicPr>
          <p:nvPr/>
        </p:nvPicPr>
        <p:blipFill>
          <a:blip r:embed="rId3"/>
          <a:stretch>
            <a:fillRect/>
          </a:stretch>
        </p:blipFill>
        <p:spPr>
          <a:xfrm>
            <a:off x="3856482" y="2546604"/>
            <a:ext cx="283464" cy="283464"/>
          </a:xfrm>
          <a:prstGeom prst="rect">
            <a:avLst/>
          </a:prstGeom>
        </p:spPr>
      </p:pic>
      <p:sp>
        <p:nvSpPr>
          <p:cNvPr id="20" name="C2_from"/>
          <p:cNvSpPr txBox="1"/>
          <p:nvPr/>
        </p:nvSpPr>
        <p:spPr>
          <a:xfrm>
            <a:off x="3714750" y="3136392"/>
            <a:ext cx="2041398" cy="274320"/>
          </a:xfrm>
          <a:prstGeom prst="rect">
            <a:avLst/>
          </a:prstGeom>
          <a:noFill/>
          <a:ln/>
        </p:spPr>
        <p:txBody>
          <a:bodyPr wrap="square" lIns="0" tIns="0" rIns="0" bIns="0" rtlCol="0" anchor="t"/>
          <a:lstStyle/>
          <a:p>
            <a:pPr indent="0" marL="0">
              <a:buNone/>
            </a:pPr>
            <a:r>
              <a:rPr lang="en-US" sz="1400" dirty="0">
                <a:solidFill>
                  <a:srgbClr val="5F5D52"/>
                </a:solidFill>
                <a:latin typeface="Arial" pitchFamily="34" charset="0"/>
                <a:ea typeface="Arial" pitchFamily="34" charset="-122"/>
                <a:cs typeface="Arial" pitchFamily="34" charset="-120"/>
              </a:rPr>
              <a:t>Da scaffale</a:t>
            </a:r>
            <a:endParaRPr lang="en-US" sz="1400" dirty="0"/>
          </a:p>
        </p:txBody>
      </p:sp>
      <p:sp>
        <p:nvSpPr>
          <p:cNvPr id="21" name="C2_to"/>
          <p:cNvSpPr txBox="1"/>
          <p:nvPr/>
        </p:nvSpPr>
        <p:spPr>
          <a:xfrm>
            <a:off x="3714750" y="3392424"/>
            <a:ext cx="2041398" cy="411480"/>
          </a:xfrm>
          <a:prstGeom prst="rect">
            <a:avLst/>
          </a:prstGeom>
          <a:noFill/>
          <a:ln/>
        </p:spPr>
        <p:txBody>
          <a:bodyPr wrap="square" lIns="0" tIns="0" rIns="0" bIns="0" rtlCol="0" anchor="t"/>
          <a:lstStyle/>
          <a:p>
            <a:pPr indent="0" marL="0">
              <a:buNone/>
            </a:pPr>
            <a:r>
              <a:rPr lang="en-US" sz="2200" b="1" dirty="0">
                <a:solidFill>
                  <a:srgbClr val="75BC20"/>
                </a:solidFill>
                <a:latin typeface="Arial" pitchFamily="34" charset="0"/>
                <a:ea typeface="Arial" pitchFamily="34" charset="-122"/>
                <a:cs typeface="Arial" pitchFamily="34" charset="-120"/>
              </a:rPr>
              <a:t>a relazione</a:t>
            </a:r>
            <a:endParaRPr lang="en-US" sz="2200" dirty="0"/>
          </a:p>
        </p:txBody>
      </p:sp>
      <p:sp>
        <p:nvSpPr>
          <p:cNvPr id="22" name="C2_v1"/>
          <p:cNvSpPr txBox="1"/>
          <p:nvPr/>
        </p:nvSpPr>
        <p:spPr>
          <a:xfrm>
            <a:off x="3714750" y="3959352"/>
            <a:ext cx="2041398" cy="457200"/>
          </a:xfrm>
          <a:prstGeom prst="rect">
            <a:avLst/>
          </a:prstGeom>
          <a:noFill/>
          <a:ln/>
        </p:spPr>
        <p:txBody>
          <a:bodyPr wrap="square" lIns="0" tIns="0" rIns="0" bIns="0" rtlCol="0" anchor="t"/>
          <a:lstStyle/>
          <a:p>
            <a:pPr indent="0" marL="0">
              <a:buNone/>
            </a:pPr>
            <a:r>
              <a:rPr lang="en-US" sz="2700" b="1" dirty="0">
                <a:solidFill>
                  <a:srgbClr val="001389"/>
                </a:solidFill>
                <a:latin typeface="Arial" pitchFamily="34" charset="0"/>
                <a:ea typeface="Arial" pitchFamily="34" charset="-122"/>
                <a:cs typeface="Arial" pitchFamily="34" charset="-120"/>
              </a:rPr>
              <a:t>0 → 800</a:t>
            </a:r>
            <a:endParaRPr lang="en-US" sz="2700" dirty="0"/>
          </a:p>
        </p:txBody>
      </p:sp>
      <p:sp>
        <p:nvSpPr>
          <p:cNvPr id="23" name="C2_l1"/>
          <p:cNvSpPr txBox="1"/>
          <p:nvPr/>
        </p:nvSpPr>
        <p:spPr>
          <a:xfrm>
            <a:off x="3714750" y="4398264"/>
            <a:ext cx="2041398" cy="274320"/>
          </a:xfrm>
          <a:prstGeom prst="rect">
            <a:avLst/>
          </a:prstGeom>
          <a:noFill/>
          <a:ln/>
        </p:spPr>
        <p:txBody>
          <a:bodyPr wrap="square" lIns="0" tIns="0" rIns="0" bIns="0" rtlCol="0" anchor="t"/>
          <a:lstStyle/>
          <a:p>
            <a:pPr indent="0" marL="0">
              <a:buNone/>
            </a:pPr>
            <a:r>
              <a:rPr lang="en-US" sz="1200" dirty="0">
                <a:solidFill>
                  <a:srgbClr val="5F5D52"/>
                </a:solidFill>
                <a:latin typeface="Arial" pitchFamily="34" charset="0"/>
                <a:ea typeface="Arial" pitchFamily="34" charset="-122"/>
                <a:cs typeface="Arial" pitchFamily="34" charset="-120"/>
              </a:rPr>
              <a:t>iscritti ai Fruit Up Club</a:t>
            </a:r>
            <a:endParaRPr lang="en-US" sz="1200" dirty="0"/>
          </a:p>
        </p:txBody>
      </p:sp>
      <p:sp>
        <p:nvSpPr>
          <p:cNvPr id="24" name="C2_v2"/>
          <p:cNvSpPr txBox="1"/>
          <p:nvPr/>
        </p:nvSpPr>
        <p:spPr>
          <a:xfrm>
            <a:off x="3714750" y="4709160"/>
            <a:ext cx="2041398" cy="329184"/>
          </a:xfrm>
          <a:prstGeom prst="rect">
            <a:avLst/>
          </a:prstGeom>
          <a:noFill/>
          <a:ln/>
        </p:spPr>
        <p:txBody>
          <a:bodyPr wrap="square" lIns="0" tIns="0" rIns="0" bIns="0" rtlCol="0" anchor="t"/>
          <a:lstStyle/>
          <a:p>
            <a:pPr indent="0" marL="0">
              <a:buNone/>
            </a:pPr>
            <a:r>
              <a:rPr lang="en-US" sz="1800" b="1" dirty="0">
                <a:solidFill>
                  <a:srgbClr val="001389"/>
                </a:solidFill>
                <a:latin typeface="Arial" pitchFamily="34" charset="0"/>
                <a:ea typeface="Arial" pitchFamily="34" charset="-122"/>
                <a:cs typeface="Arial" pitchFamily="34" charset="-120"/>
              </a:rPr>
              <a:t>10 CUS</a:t>
            </a:r>
            <a:endParaRPr lang="en-US" sz="1800" dirty="0"/>
          </a:p>
        </p:txBody>
      </p:sp>
      <p:sp>
        <p:nvSpPr>
          <p:cNvPr id="25" name="C2_l2"/>
          <p:cNvSpPr txBox="1"/>
          <p:nvPr/>
        </p:nvSpPr>
        <p:spPr>
          <a:xfrm>
            <a:off x="3714750" y="5001768"/>
            <a:ext cx="2041398" cy="256032"/>
          </a:xfrm>
          <a:prstGeom prst="rect">
            <a:avLst/>
          </a:prstGeom>
          <a:noFill/>
          <a:ln/>
        </p:spPr>
        <p:txBody>
          <a:bodyPr wrap="square" lIns="0" tIns="0" rIns="0" bIns="0" rtlCol="0" anchor="t"/>
          <a:lstStyle/>
          <a:p>
            <a:pPr indent="0" marL="0">
              <a:buNone/>
            </a:pPr>
            <a:r>
              <a:rPr lang="en-US" sz="1200" dirty="0">
                <a:solidFill>
                  <a:srgbClr val="5F5D52"/>
                </a:solidFill>
                <a:latin typeface="Arial" pitchFamily="34" charset="0"/>
                <a:ea typeface="Arial" pitchFamily="34" charset="-122"/>
                <a:cs typeface="Arial" pitchFamily="34" charset="-120"/>
              </a:rPr>
              <a:t>aderenti</a:t>
            </a:r>
            <a:endParaRPr lang="en-US" sz="1200" dirty="0"/>
          </a:p>
        </p:txBody>
      </p:sp>
      <p:sp>
        <p:nvSpPr>
          <p:cNvPr id="26" name="C3_card"/>
          <p:cNvSpPr/>
          <p:nvPr/>
        </p:nvSpPr>
        <p:spPr>
          <a:xfrm>
            <a:off x="6231636" y="2148840"/>
            <a:ext cx="2498598" cy="3246120"/>
          </a:xfrm>
          <a:prstGeom prst="roundRect">
            <a:avLst>
              <a:gd name="adj" fmla="val 6587"/>
            </a:avLst>
          </a:prstGeom>
          <a:solidFill>
            <a:srgbClr val="FFFFFF"/>
          </a:solidFill>
          <a:ln w="12700">
            <a:solidFill>
              <a:srgbClr val="FFFFFF"/>
            </a:solidFill>
            <a:prstDash val="solid"/>
          </a:ln>
          <a:effectLst>
            <a:outerShdw sx="100000" sy="100000" kx="0" ky="0" algn="bl" rotWithShape="0" blurRad="76200" dist="19050" dir="5400000">
              <a:srgbClr val="000000">
                <a:alpha val="12000"/>
              </a:srgbClr>
            </a:outerShdw>
          </a:effectLst>
        </p:spPr>
      </p:sp>
      <p:sp>
        <p:nvSpPr>
          <p:cNvPr id="27" name="C3_dot"/>
          <p:cNvSpPr/>
          <p:nvPr/>
        </p:nvSpPr>
        <p:spPr>
          <a:xfrm>
            <a:off x="6487668" y="2404872"/>
            <a:ext cx="566928" cy="566928"/>
          </a:xfrm>
          <a:prstGeom prst="ellipse">
            <a:avLst/>
          </a:prstGeom>
          <a:solidFill>
            <a:srgbClr val="001389"/>
          </a:solidFill>
          <a:ln w="12700">
            <a:solidFill>
              <a:srgbClr val="001389"/>
            </a:solidFill>
            <a:prstDash val="solid"/>
          </a:ln>
        </p:spPr>
      </p:sp>
      <p:pic>
        <p:nvPicPr>
          <p:cNvPr id="28" name="C3_ico" descr="preencoded.png">    </p:cNvPr>
          <p:cNvPicPr>
            <a:picLocks noChangeAspect="1"/>
          </p:cNvPicPr>
          <p:nvPr/>
        </p:nvPicPr>
        <p:blipFill>
          <a:blip r:embed="rId4"/>
          <a:stretch>
            <a:fillRect/>
          </a:stretch>
        </p:blipFill>
        <p:spPr>
          <a:xfrm>
            <a:off x="6629400" y="2546604"/>
            <a:ext cx="283464" cy="283464"/>
          </a:xfrm>
          <a:prstGeom prst="rect">
            <a:avLst/>
          </a:prstGeom>
        </p:spPr>
      </p:pic>
      <p:sp>
        <p:nvSpPr>
          <p:cNvPr id="29" name="C3_from"/>
          <p:cNvSpPr txBox="1"/>
          <p:nvPr/>
        </p:nvSpPr>
        <p:spPr>
          <a:xfrm>
            <a:off x="6487668" y="3136392"/>
            <a:ext cx="2041398" cy="274320"/>
          </a:xfrm>
          <a:prstGeom prst="rect">
            <a:avLst/>
          </a:prstGeom>
          <a:noFill/>
          <a:ln/>
        </p:spPr>
        <p:txBody>
          <a:bodyPr wrap="square" lIns="0" tIns="0" rIns="0" bIns="0" rtlCol="0" anchor="t"/>
          <a:lstStyle/>
          <a:p>
            <a:pPr indent="0" marL="0">
              <a:buNone/>
            </a:pPr>
            <a:r>
              <a:rPr lang="en-US" sz="1400" dirty="0">
                <a:solidFill>
                  <a:srgbClr val="5F5D52"/>
                </a:solidFill>
                <a:latin typeface="Arial" pitchFamily="34" charset="0"/>
                <a:ea typeface="Arial" pitchFamily="34" charset="-122"/>
                <a:cs typeface="Arial" pitchFamily="34" charset="-120"/>
              </a:rPr>
              <a:t>Da assente</a:t>
            </a:r>
            <a:endParaRPr lang="en-US" sz="1400" dirty="0"/>
          </a:p>
        </p:txBody>
      </p:sp>
      <p:sp>
        <p:nvSpPr>
          <p:cNvPr id="30" name="C3_to"/>
          <p:cNvSpPr txBox="1"/>
          <p:nvPr/>
        </p:nvSpPr>
        <p:spPr>
          <a:xfrm>
            <a:off x="6487668" y="3392424"/>
            <a:ext cx="2041398" cy="411480"/>
          </a:xfrm>
          <a:prstGeom prst="rect">
            <a:avLst/>
          </a:prstGeom>
          <a:noFill/>
          <a:ln/>
        </p:spPr>
        <p:txBody>
          <a:bodyPr wrap="square" lIns="0" tIns="0" rIns="0" bIns="0" rtlCol="0" anchor="t"/>
          <a:lstStyle/>
          <a:p>
            <a:pPr indent="0" marL="0">
              <a:buNone/>
            </a:pPr>
            <a:r>
              <a:rPr lang="en-US" sz="2200" b="1" dirty="0">
                <a:solidFill>
                  <a:srgbClr val="001389"/>
                </a:solidFill>
                <a:latin typeface="Arial" pitchFamily="34" charset="0"/>
                <a:ea typeface="Arial" pitchFamily="34" charset="-122"/>
                <a:cs typeface="Arial" pitchFamily="34" charset="-120"/>
              </a:rPr>
              <a:t>a presente</a:t>
            </a:r>
            <a:endParaRPr lang="en-US" sz="2200" dirty="0"/>
          </a:p>
        </p:txBody>
      </p:sp>
      <p:sp>
        <p:nvSpPr>
          <p:cNvPr id="31" name="C3_v1"/>
          <p:cNvSpPr txBox="1"/>
          <p:nvPr/>
        </p:nvSpPr>
        <p:spPr>
          <a:xfrm>
            <a:off x="6487668" y="3959352"/>
            <a:ext cx="2041398" cy="457200"/>
          </a:xfrm>
          <a:prstGeom prst="rect">
            <a:avLst/>
          </a:prstGeom>
          <a:noFill/>
          <a:ln/>
        </p:spPr>
        <p:txBody>
          <a:bodyPr wrap="square" lIns="0" tIns="0" rIns="0" bIns="0" rtlCol="0" anchor="t"/>
          <a:lstStyle/>
          <a:p>
            <a:pPr indent="0" marL="0">
              <a:buNone/>
            </a:pPr>
            <a:r>
              <a:rPr lang="en-US" sz="2700" b="1" dirty="0">
                <a:solidFill>
                  <a:srgbClr val="001389"/>
                </a:solidFill>
                <a:latin typeface="Arial" pitchFamily="34" charset="0"/>
                <a:ea typeface="Arial" pitchFamily="34" charset="-122"/>
                <a:cs typeface="Arial" pitchFamily="34" charset="-120"/>
              </a:rPr>
              <a:t>0 → 5.000</a:t>
            </a:r>
            <a:endParaRPr lang="en-US" sz="2700" dirty="0"/>
          </a:p>
        </p:txBody>
      </p:sp>
      <p:sp>
        <p:nvSpPr>
          <p:cNvPr id="32" name="C3_l1"/>
          <p:cNvSpPr txBox="1"/>
          <p:nvPr/>
        </p:nvSpPr>
        <p:spPr>
          <a:xfrm>
            <a:off x="6487668" y="4398264"/>
            <a:ext cx="2041398" cy="274320"/>
          </a:xfrm>
          <a:prstGeom prst="rect">
            <a:avLst/>
          </a:prstGeom>
          <a:noFill/>
          <a:ln/>
        </p:spPr>
        <p:txBody>
          <a:bodyPr wrap="square" lIns="0" tIns="0" rIns="0" bIns="0" rtlCol="0" anchor="t"/>
          <a:lstStyle/>
          <a:p>
            <a:pPr indent="0" marL="0">
              <a:buNone/>
            </a:pPr>
            <a:r>
              <a:rPr lang="en-US" sz="1200" dirty="0">
                <a:solidFill>
                  <a:srgbClr val="5F5D52"/>
                </a:solidFill>
                <a:latin typeface="Arial" pitchFamily="34" charset="0"/>
                <a:ea typeface="Arial" pitchFamily="34" charset="-122"/>
                <a:cs typeface="Arial" pitchFamily="34" charset="-120"/>
              </a:rPr>
              <a:t>follower TikTok</a:t>
            </a:r>
            <a:endParaRPr lang="en-US" sz="1200" dirty="0"/>
          </a:p>
        </p:txBody>
      </p:sp>
      <p:sp>
        <p:nvSpPr>
          <p:cNvPr id="33" name="C3_v2"/>
          <p:cNvSpPr txBox="1"/>
          <p:nvPr/>
        </p:nvSpPr>
        <p:spPr>
          <a:xfrm>
            <a:off x="6487668" y="4709160"/>
            <a:ext cx="2041398" cy="329184"/>
          </a:xfrm>
          <a:prstGeom prst="rect">
            <a:avLst/>
          </a:prstGeom>
          <a:noFill/>
          <a:ln/>
        </p:spPr>
        <p:txBody>
          <a:bodyPr wrap="square" lIns="0" tIns="0" rIns="0" bIns="0" rtlCol="0" anchor="t"/>
          <a:lstStyle/>
          <a:p>
            <a:pPr indent="0" marL="0">
              <a:buNone/>
            </a:pPr>
            <a:r>
              <a:rPr lang="en-US" sz="1800" b="1" dirty="0">
                <a:solidFill>
                  <a:srgbClr val="001389"/>
                </a:solidFill>
                <a:latin typeface="Arial" pitchFamily="34" charset="0"/>
                <a:ea typeface="Arial" pitchFamily="34" charset="-122"/>
                <a:cs typeface="Arial" pitchFamily="34" charset="-120"/>
              </a:rPr>
              <a:t>14,5K → 20K</a:t>
            </a:r>
            <a:endParaRPr lang="en-US" sz="1800" dirty="0"/>
          </a:p>
        </p:txBody>
      </p:sp>
      <p:sp>
        <p:nvSpPr>
          <p:cNvPr id="34" name="C3_l2"/>
          <p:cNvSpPr txBox="1"/>
          <p:nvPr/>
        </p:nvSpPr>
        <p:spPr>
          <a:xfrm>
            <a:off x="6487668" y="5001768"/>
            <a:ext cx="2041398" cy="256032"/>
          </a:xfrm>
          <a:prstGeom prst="rect">
            <a:avLst/>
          </a:prstGeom>
          <a:noFill/>
          <a:ln/>
        </p:spPr>
        <p:txBody>
          <a:bodyPr wrap="square" lIns="0" tIns="0" rIns="0" bIns="0" rtlCol="0" anchor="t"/>
          <a:lstStyle/>
          <a:p>
            <a:pPr indent="0" marL="0">
              <a:buNone/>
            </a:pPr>
            <a:r>
              <a:rPr lang="en-US" sz="1200" dirty="0">
                <a:solidFill>
                  <a:srgbClr val="5F5D52"/>
                </a:solidFill>
                <a:latin typeface="Arial" pitchFamily="34" charset="0"/>
                <a:ea typeface="Arial" pitchFamily="34" charset="-122"/>
                <a:cs typeface="Arial" pitchFamily="34" charset="-120"/>
              </a:rPr>
              <a:t>follower Instagram</a:t>
            </a:r>
            <a:endParaRPr lang="en-US" sz="1200" dirty="0"/>
          </a:p>
        </p:txBody>
      </p:sp>
      <p:sp>
        <p:nvSpPr>
          <p:cNvPr id="35" name="C4_card"/>
          <p:cNvSpPr/>
          <p:nvPr/>
        </p:nvSpPr>
        <p:spPr>
          <a:xfrm>
            <a:off x="9004554" y="2148840"/>
            <a:ext cx="2498598" cy="3246120"/>
          </a:xfrm>
          <a:prstGeom prst="roundRect">
            <a:avLst>
              <a:gd name="adj" fmla="val 6587"/>
            </a:avLst>
          </a:prstGeom>
          <a:solidFill>
            <a:srgbClr val="FFFFFF"/>
          </a:solidFill>
          <a:ln w="12700">
            <a:solidFill>
              <a:srgbClr val="FFFFFF"/>
            </a:solidFill>
            <a:prstDash val="solid"/>
          </a:ln>
          <a:effectLst>
            <a:outerShdw sx="100000" sy="100000" kx="0" ky="0" algn="bl" rotWithShape="0" blurRad="76200" dist="19050" dir="5400000">
              <a:srgbClr val="000000">
                <a:alpha val="12000"/>
              </a:srgbClr>
            </a:outerShdw>
          </a:effectLst>
        </p:spPr>
      </p:sp>
      <p:sp>
        <p:nvSpPr>
          <p:cNvPr id="36" name="C4_dot"/>
          <p:cNvSpPr/>
          <p:nvPr/>
        </p:nvSpPr>
        <p:spPr>
          <a:xfrm>
            <a:off x="9260586" y="2404872"/>
            <a:ext cx="566928" cy="566928"/>
          </a:xfrm>
          <a:prstGeom prst="ellipse">
            <a:avLst/>
          </a:prstGeom>
          <a:solidFill>
            <a:srgbClr val="E8950C"/>
          </a:solidFill>
          <a:ln w="12700">
            <a:solidFill>
              <a:srgbClr val="E8950C"/>
            </a:solidFill>
            <a:prstDash val="solid"/>
          </a:ln>
        </p:spPr>
      </p:sp>
      <p:pic>
        <p:nvPicPr>
          <p:cNvPr id="37" name="C4_ico" descr="preencoded.png">    </p:cNvPr>
          <p:cNvPicPr>
            <a:picLocks noChangeAspect="1"/>
          </p:cNvPicPr>
          <p:nvPr/>
        </p:nvPicPr>
        <p:blipFill>
          <a:blip r:embed="rId5"/>
          <a:stretch>
            <a:fillRect/>
          </a:stretch>
        </p:blipFill>
        <p:spPr>
          <a:xfrm>
            <a:off x="9402318" y="2546604"/>
            <a:ext cx="283464" cy="283464"/>
          </a:xfrm>
          <a:prstGeom prst="rect">
            <a:avLst/>
          </a:prstGeom>
        </p:spPr>
      </p:pic>
      <p:sp>
        <p:nvSpPr>
          <p:cNvPr id="38" name="C4_from"/>
          <p:cNvSpPr txBox="1"/>
          <p:nvPr/>
        </p:nvSpPr>
        <p:spPr>
          <a:xfrm>
            <a:off x="9260586" y="3136392"/>
            <a:ext cx="2041398" cy="274320"/>
          </a:xfrm>
          <a:prstGeom prst="rect">
            <a:avLst/>
          </a:prstGeom>
          <a:noFill/>
          <a:ln/>
        </p:spPr>
        <p:txBody>
          <a:bodyPr wrap="square" lIns="0" tIns="0" rIns="0" bIns="0" rtlCol="0" anchor="t"/>
          <a:lstStyle/>
          <a:p>
            <a:pPr indent="0" marL="0">
              <a:buNone/>
            </a:pPr>
            <a:r>
              <a:rPr lang="en-US" sz="1400" dirty="0">
                <a:solidFill>
                  <a:srgbClr val="5F5D52"/>
                </a:solidFill>
                <a:latin typeface="Arial" pitchFamily="34" charset="0"/>
                <a:ea typeface="Arial" pitchFamily="34" charset="-122"/>
                <a:cs typeface="Arial" pitchFamily="34" charset="-120"/>
              </a:rPr>
              <a:t>Da eventi isolati</a:t>
            </a:r>
            <a:endParaRPr lang="en-US" sz="1400" dirty="0"/>
          </a:p>
        </p:txBody>
      </p:sp>
      <p:sp>
        <p:nvSpPr>
          <p:cNvPr id="39" name="C4_to"/>
          <p:cNvSpPr txBox="1"/>
          <p:nvPr/>
        </p:nvSpPr>
        <p:spPr>
          <a:xfrm>
            <a:off x="9260586" y="3392424"/>
            <a:ext cx="2041398" cy="411480"/>
          </a:xfrm>
          <a:prstGeom prst="rect">
            <a:avLst/>
          </a:prstGeom>
          <a:noFill/>
          <a:ln/>
        </p:spPr>
        <p:txBody>
          <a:bodyPr wrap="square" lIns="0" tIns="0" rIns="0" bIns="0" rtlCol="0" anchor="t"/>
          <a:lstStyle/>
          <a:p>
            <a:pPr indent="0" marL="0">
              <a:buNone/>
            </a:pPr>
            <a:r>
              <a:rPr lang="en-US" sz="2200" b="1" dirty="0">
                <a:solidFill>
                  <a:srgbClr val="E8950C"/>
                </a:solidFill>
                <a:latin typeface="Arial" pitchFamily="34" charset="0"/>
                <a:ea typeface="Arial" pitchFamily="34" charset="-122"/>
                <a:cs typeface="Arial" pitchFamily="34" charset="-120"/>
              </a:rPr>
              <a:t>a sistema</a:t>
            </a:r>
            <a:endParaRPr lang="en-US" sz="2200" dirty="0"/>
          </a:p>
        </p:txBody>
      </p:sp>
      <p:sp>
        <p:nvSpPr>
          <p:cNvPr id="40" name="C4_v1"/>
          <p:cNvSpPr txBox="1"/>
          <p:nvPr/>
        </p:nvSpPr>
        <p:spPr>
          <a:xfrm>
            <a:off x="9260586" y="3959352"/>
            <a:ext cx="2041398" cy="457200"/>
          </a:xfrm>
          <a:prstGeom prst="rect">
            <a:avLst/>
          </a:prstGeom>
          <a:noFill/>
          <a:ln/>
        </p:spPr>
        <p:txBody>
          <a:bodyPr wrap="square" lIns="0" tIns="0" rIns="0" bIns="0" rtlCol="0" anchor="t"/>
          <a:lstStyle/>
          <a:p>
            <a:pPr indent="0" marL="0">
              <a:buNone/>
            </a:pPr>
            <a:r>
              <a:rPr lang="en-US" sz="2700" b="1" dirty="0">
                <a:solidFill>
                  <a:srgbClr val="001389"/>
                </a:solidFill>
                <a:latin typeface="Arial" pitchFamily="34" charset="0"/>
                <a:ea typeface="Arial" pitchFamily="34" charset="-122"/>
                <a:cs typeface="Arial" pitchFamily="34" charset="-120"/>
              </a:rPr>
              <a:t>1 format</a:t>
            </a:r>
            <a:endParaRPr lang="en-US" sz="2700" dirty="0"/>
          </a:p>
        </p:txBody>
      </p:sp>
      <p:sp>
        <p:nvSpPr>
          <p:cNvPr id="41" name="C4_l1"/>
          <p:cNvSpPr txBox="1"/>
          <p:nvPr/>
        </p:nvSpPr>
        <p:spPr>
          <a:xfrm>
            <a:off x="9260586" y="4398264"/>
            <a:ext cx="2041398" cy="274320"/>
          </a:xfrm>
          <a:prstGeom prst="rect">
            <a:avLst/>
          </a:prstGeom>
          <a:noFill/>
          <a:ln/>
        </p:spPr>
        <p:txBody>
          <a:bodyPr wrap="square" lIns="0" tIns="0" rIns="0" bIns="0" rtlCol="0" anchor="t"/>
          <a:lstStyle/>
          <a:p>
            <a:pPr indent="0" marL="0">
              <a:buNone/>
            </a:pPr>
            <a:r>
              <a:rPr lang="en-US" sz="1200" dirty="0">
                <a:solidFill>
                  <a:srgbClr val="5F5D52"/>
                </a:solidFill>
                <a:latin typeface="Arial" pitchFamily="34" charset="0"/>
                <a:ea typeface="Arial" pitchFamily="34" charset="-122"/>
                <a:cs typeface="Arial" pitchFamily="34" charset="-120"/>
              </a:rPr>
              <a:t>per tutte le sponsorizzazioni</a:t>
            </a:r>
            <a:endParaRPr lang="en-US" sz="1200" dirty="0"/>
          </a:p>
        </p:txBody>
      </p:sp>
      <p:sp>
        <p:nvSpPr>
          <p:cNvPr id="42" name="C4_v2"/>
          <p:cNvSpPr txBox="1"/>
          <p:nvPr/>
        </p:nvSpPr>
        <p:spPr>
          <a:xfrm>
            <a:off x="9260586" y="4709160"/>
            <a:ext cx="2041398" cy="329184"/>
          </a:xfrm>
          <a:prstGeom prst="rect">
            <a:avLst/>
          </a:prstGeom>
          <a:noFill/>
          <a:ln/>
        </p:spPr>
        <p:txBody>
          <a:bodyPr wrap="square" lIns="0" tIns="0" rIns="0" bIns="0" rtlCol="0" anchor="t"/>
          <a:lstStyle/>
          <a:p>
            <a:pPr indent="0" marL="0">
              <a:buNone/>
            </a:pPr>
            <a:r>
              <a:rPr lang="en-US" sz="1800" b="1" dirty="0">
                <a:solidFill>
                  <a:srgbClr val="001389"/>
                </a:solidFill>
                <a:latin typeface="Arial" pitchFamily="34" charset="0"/>
                <a:ea typeface="Arial" pitchFamily="34" charset="-122"/>
                <a:cs typeface="Arial" pitchFamily="34" charset="-120"/>
              </a:rPr>
              <a:t>3 nel 2027</a:t>
            </a:r>
            <a:endParaRPr lang="en-US" sz="1800" dirty="0"/>
          </a:p>
        </p:txBody>
      </p:sp>
      <p:sp>
        <p:nvSpPr>
          <p:cNvPr id="43" name="C4_l2"/>
          <p:cNvSpPr txBox="1"/>
          <p:nvPr/>
        </p:nvSpPr>
        <p:spPr>
          <a:xfrm>
            <a:off x="9260586" y="5001768"/>
            <a:ext cx="2041398" cy="256032"/>
          </a:xfrm>
          <a:prstGeom prst="rect">
            <a:avLst/>
          </a:prstGeom>
          <a:noFill/>
          <a:ln/>
        </p:spPr>
        <p:txBody>
          <a:bodyPr wrap="square" lIns="0" tIns="0" rIns="0" bIns="0" rtlCol="0" anchor="t"/>
          <a:lstStyle/>
          <a:p>
            <a:pPr indent="0" marL="0">
              <a:buNone/>
            </a:pPr>
            <a:r>
              <a:rPr lang="en-US" sz="1200" dirty="0">
                <a:solidFill>
                  <a:srgbClr val="5F5D52"/>
                </a:solidFill>
                <a:latin typeface="Arial" pitchFamily="34" charset="0"/>
                <a:ea typeface="Arial" pitchFamily="34" charset="-122"/>
                <a:cs typeface="Arial" pitchFamily="34" charset="-120"/>
              </a:rPr>
              <a:t>poi in ogni rinnovo</a:t>
            </a:r>
            <a:endParaRPr lang="en-US" sz="1200" dirty="0"/>
          </a:p>
        </p:txBody>
      </p:sp>
      <p:sp>
        <p:nvSpPr>
          <p:cNvPr id="44" name="Text 36"/>
          <p:cNvSpPr txBox="1"/>
          <p:nvPr/>
        </p:nvSpPr>
        <p:spPr>
          <a:xfrm>
            <a:off x="685800" y="5715000"/>
            <a:ext cx="10817352" cy="365760"/>
          </a:xfrm>
          <a:prstGeom prst="rect">
            <a:avLst/>
          </a:prstGeom>
          <a:noFill/>
          <a:ln/>
        </p:spPr>
        <p:txBody>
          <a:bodyPr wrap="square" lIns="0" tIns="0" rIns="0" bIns="0" rtlCol="0" anchor="t"/>
          <a:lstStyle/>
          <a:p>
            <a:pPr indent="0" marL="0">
              <a:buNone/>
            </a:pPr>
            <a:r>
              <a:rPr lang="en-US" sz="1300" dirty="0">
                <a:solidFill>
                  <a:srgbClr val="1B1F3B"/>
                </a:solidFill>
                <a:latin typeface="Arial" pitchFamily="34" charset="0"/>
                <a:ea typeface="Arial" pitchFamily="34" charset="-122"/>
                <a:cs typeface="Arial" pitchFamily="34" charset="-120"/>
              </a:rPr>
              <a:t>Obiettivi 2027, misurati con una ricerca prima (2026) e dopo (2027).  </a:t>
            </a:r>
            <a:pPr indent="0" marL="0">
              <a:buNone/>
            </a:pPr>
            <a:r>
              <a:rPr lang="en-US" sz="1300" b="1" dirty="0">
                <a:solidFill>
                  <a:srgbClr val="1B1F3B"/>
                </a:solidFill>
                <a:latin typeface="Arial" pitchFamily="34" charset="0"/>
                <a:ea typeface="Arial" pitchFamily="34" charset="-122"/>
                <a:cs typeface="Arial" pitchFamily="34" charset="-120"/>
              </a:rPr>
              <a:t>Nielsen: +1 punto di notorietà da sponsorizzazione ≈ +1% di vendite.</a:t>
            </a:r>
            <a:endParaRPr lang="en-US" sz="13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00"/>
                                        <p:tgtEl>
                                          <p:spTgt spid="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400"/>
                                        <p:tgtEl>
                                          <p:spTgt spid="9"/>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400"/>
                                        <p:tgtEl>
                                          <p:spTgt spid="11"/>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400"/>
                                        <p:tgtEl>
                                          <p:spTgt spid="12"/>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400"/>
                                        <p:tgtEl>
                                          <p:spTgt spid="13"/>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fade">
                                      <p:cBhvr>
                                        <p:cTn id="22" dur="400"/>
                                        <p:tgtEl>
                                          <p:spTgt spid="14"/>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5"/>
                                        </p:tgtEl>
                                        <p:attrNameLst>
                                          <p:attrName>style.visibility</p:attrName>
                                        </p:attrNameLst>
                                      </p:cBhvr>
                                      <p:to>
                                        <p:strVal val="visible"/>
                                      </p:to>
                                    </p:set>
                                    <p:animEffect transition="in" filter="fade">
                                      <p:cBhvr>
                                        <p:cTn id="25" dur="400"/>
                                        <p:tgtEl>
                                          <p:spTgt spid="15"/>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6"/>
                                        </p:tgtEl>
                                        <p:attrNameLst>
                                          <p:attrName>style.visibility</p:attrName>
                                        </p:attrNameLst>
                                      </p:cBhvr>
                                      <p:to>
                                        <p:strVal val="visible"/>
                                      </p:to>
                                    </p:set>
                                    <p:animEffect transition="in" filter="fade">
                                      <p:cBhvr>
                                        <p:cTn id="28" dur="400"/>
                                        <p:tgtEl>
                                          <p:spTgt spid="16"/>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17"/>
                                        </p:tgtEl>
                                        <p:attrNameLst>
                                          <p:attrName>style.visibility</p:attrName>
                                        </p:attrNameLst>
                                      </p:cBhvr>
                                      <p:to>
                                        <p:strVal val="visible"/>
                                      </p:to>
                                    </p:set>
                                    <p:animEffect transition="in" filter="fade">
                                      <p:cBhvr>
                                        <p:cTn id="33" dur="400"/>
                                        <p:tgtEl>
                                          <p:spTgt spid="17"/>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8"/>
                                        </p:tgtEl>
                                        <p:attrNameLst>
                                          <p:attrName>style.visibility</p:attrName>
                                        </p:attrNameLst>
                                      </p:cBhvr>
                                      <p:to>
                                        <p:strVal val="visible"/>
                                      </p:to>
                                    </p:set>
                                    <p:animEffect transition="in" filter="fade">
                                      <p:cBhvr>
                                        <p:cTn id="36" dur="400"/>
                                        <p:tgtEl>
                                          <p:spTgt spid="18"/>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20"/>
                                        </p:tgtEl>
                                        <p:attrNameLst>
                                          <p:attrName>style.visibility</p:attrName>
                                        </p:attrNameLst>
                                      </p:cBhvr>
                                      <p:to>
                                        <p:strVal val="visible"/>
                                      </p:to>
                                    </p:set>
                                    <p:animEffect transition="in" filter="fade">
                                      <p:cBhvr>
                                        <p:cTn id="39" dur="400"/>
                                        <p:tgtEl>
                                          <p:spTgt spid="20"/>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21"/>
                                        </p:tgtEl>
                                        <p:attrNameLst>
                                          <p:attrName>style.visibility</p:attrName>
                                        </p:attrNameLst>
                                      </p:cBhvr>
                                      <p:to>
                                        <p:strVal val="visible"/>
                                      </p:to>
                                    </p:set>
                                    <p:animEffect transition="in" filter="fade">
                                      <p:cBhvr>
                                        <p:cTn id="42" dur="400"/>
                                        <p:tgtEl>
                                          <p:spTgt spid="21"/>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22"/>
                                        </p:tgtEl>
                                        <p:attrNameLst>
                                          <p:attrName>style.visibility</p:attrName>
                                        </p:attrNameLst>
                                      </p:cBhvr>
                                      <p:to>
                                        <p:strVal val="visible"/>
                                      </p:to>
                                    </p:set>
                                    <p:animEffect transition="in" filter="fade">
                                      <p:cBhvr>
                                        <p:cTn id="45" dur="400"/>
                                        <p:tgtEl>
                                          <p:spTgt spid="22"/>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23"/>
                                        </p:tgtEl>
                                        <p:attrNameLst>
                                          <p:attrName>style.visibility</p:attrName>
                                        </p:attrNameLst>
                                      </p:cBhvr>
                                      <p:to>
                                        <p:strVal val="visible"/>
                                      </p:to>
                                    </p:set>
                                    <p:animEffect transition="in" filter="fade">
                                      <p:cBhvr>
                                        <p:cTn id="48" dur="400"/>
                                        <p:tgtEl>
                                          <p:spTgt spid="23"/>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24"/>
                                        </p:tgtEl>
                                        <p:attrNameLst>
                                          <p:attrName>style.visibility</p:attrName>
                                        </p:attrNameLst>
                                      </p:cBhvr>
                                      <p:to>
                                        <p:strVal val="visible"/>
                                      </p:to>
                                    </p:set>
                                    <p:animEffect transition="in" filter="fade">
                                      <p:cBhvr>
                                        <p:cTn id="51" dur="400"/>
                                        <p:tgtEl>
                                          <p:spTgt spid="24"/>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25"/>
                                        </p:tgtEl>
                                        <p:attrNameLst>
                                          <p:attrName>style.visibility</p:attrName>
                                        </p:attrNameLst>
                                      </p:cBhvr>
                                      <p:to>
                                        <p:strVal val="visible"/>
                                      </p:to>
                                    </p:set>
                                    <p:animEffect transition="in" filter="fade">
                                      <p:cBhvr>
                                        <p:cTn id="54" dur="400"/>
                                        <p:tgtEl>
                                          <p:spTgt spid="25"/>
                                        </p:tgtEl>
                                      </p:cBhvr>
                                    </p:animEffect>
                                  </p:childTnLst>
                                </p:cTn>
                              </p:par>
                            </p:childTnLst>
                          </p:cTn>
                        </p:par>
                      </p:childTnLst>
                    </p:cTn>
                  </p:par>
                  <p:par>
                    <p:cTn id="55" fill="hold">
                      <p:stCondLst>
                        <p:cond delay="indefinite"/>
                      </p:stCondLst>
                      <p:childTnLst>
                        <p:par>
                          <p:cTn id="56" fill="hold">
                            <p:stCondLst>
                              <p:cond delay="0"/>
                            </p:stCondLst>
                            <p:childTnLst>
                              <p:par>
                                <p:cTn id="57" presetID="10" presetClass="entr" presetSubtype="0" fill="hold" grpId="0" nodeType="clickEffect">
                                  <p:stCondLst>
                                    <p:cond delay="0"/>
                                  </p:stCondLst>
                                  <p:childTnLst>
                                    <p:set>
                                      <p:cBhvr>
                                        <p:cTn id="58" dur="1" fill="hold">
                                          <p:stCondLst>
                                            <p:cond delay="0"/>
                                          </p:stCondLst>
                                        </p:cTn>
                                        <p:tgtEl>
                                          <p:spTgt spid="26"/>
                                        </p:tgtEl>
                                        <p:attrNameLst>
                                          <p:attrName>style.visibility</p:attrName>
                                        </p:attrNameLst>
                                      </p:cBhvr>
                                      <p:to>
                                        <p:strVal val="visible"/>
                                      </p:to>
                                    </p:set>
                                    <p:animEffect transition="in" filter="fade">
                                      <p:cBhvr>
                                        <p:cTn id="59" dur="400"/>
                                        <p:tgtEl>
                                          <p:spTgt spid="26"/>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27"/>
                                        </p:tgtEl>
                                        <p:attrNameLst>
                                          <p:attrName>style.visibility</p:attrName>
                                        </p:attrNameLst>
                                      </p:cBhvr>
                                      <p:to>
                                        <p:strVal val="visible"/>
                                      </p:to>
                                    </p:set>
                                    <p:animEffect transition="in" filter="fade">
                                      <p:cBhvr>
                                        <p:cTn id="62" dur="400"/>
                                        <p:tgtEl>
                                          <p:spTgt spid="27"/>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29"/>
                                        </p:tgtEl>
                                        <p:attrNameLst>
                                          <p:attrName>style.visibility</p:attrName>
                                        </p:attrNameLst>
                                      </p:cBhvr>
                                      <p:to>
                                        <p:strVal val="visible"/>
                                      </p:to>
                                    </p:set>
                                    <p:animEffect transition="in" filter="fade">
                                      <p:cBhvr>
                                        <p:cTn id="65" dur="400"/>
                                        <p:tgtEl>
                                          <p:spTgt spid="29"/>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30"/>
                                        </p:tgtEl>
                                        <p:attrNameLst>
                                          <p:attrName>style.visibility</p:attrName>
                                        </p:attrNameLst>
                                      </p:cBhvr>
                                      <p:to>
                                        <p:strVal val="visible"/>
                                      </p:to>
                                    </p:set>
                                    <p:animEffect transition="in" filter="fade">
                                      <p:cBhvr>
                                        <p:cTn id="68" dur="400"/>
                                        <p:tgtEl>
                                          <p:spTgt spid="30"/>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31"/>
                                        </p:tgtEl>
                                        <p:attrNameLst>
                                          <p:attrName>style.visibility</p:attrName>
                                        </p:attrNameLst>
                                      </p:cBhvr>
                                      <p:to>
                                        <p:strVal val="visible"/>
                                      </p:to>
                                    </p:set>
                                    <p:animEffect transition="in" filter="fade">
                                      <p:cBhvr>
                                        <p:cTn id="71" dur="400"/>
                                        <p:tgtEl>
                                          <p:spTgt spid="31"/>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32"/>
                                        </p:tgtEl>
                                        <p:attrNameLst>
                                          <p:attrName>style.visibility</p:attrName>
                                        </p:attrNameLst>
                                      </p:cBhvr>
                                      <p:to>
                                        <p:strVal val="visible"/>
                                      </p:to>
                                    </p:set>
                                    <p:animEffect transition="in" filter="fade">
                                      <p:cBhvr>
                                        <p:cTn id="74" dur="400"/>
                                        <p:tgtEl>
                                          <p:spTgt spid="32"/>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33"/>
                                        </p:tgtEl>
                                        <p:attrNameLst>
                                          <p:attrName>style.visibility</p:attrName>
                                        </p:attrNameLst>
                                      </p:cBhvr>
                                      <p:to>
                                        <p:strVal val="visible"/>
                                      </p:to>
                                    </p:set>
                                    <p:animEffect transition="in" filter="fade">
                                      <p:cBhvr>
                                        <p:cTn id="77" dur="400"/>
                                        <p:tgtEl>
                                          <p:spTgt spid="33"/>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34"/>
                                        </p:tgtEl>
                                        <p:attrNameLst>
                                          <p:attrName>style.visibility</p:attrName>
                                        </p:attrNameLst>
                                      </p:cBhvr>
                                      <p:to>
                                        <p:strVal val="visible"/>
                                      </p:to>
                                    </p:set>
                                    <p:animEffect transition="in" filter="fade">
                                      <p:cBhvr>
                                        <p:cTn id="80" dur="400"/>
                                        <p:tgtEl>
                                          <p:spTgt spid="34"/>
                                        </p:tgtEl>
                                      </p:cBhvr>
                                    </p:animEffect>
                                  </p:childTnLst>
                                </p:cTn>
                              </p:par>
                            </p:childTnLst>
                          </p:cTn>
                        </p:par>
                      </p:childTnLst>
                    </p:cTn>
                  </p:par>
                  <p:par>
                    <p:cTn id="81" fill="hold">
                      <p:stCondLst>
                        <p:cond delay="indefinite"/>
                      </p:stCondLst>
                      <p:childTnLst>
                        <p:par>
                          <p:cTn id="82" fill="hold">
                            <p:stCondLst>
                              <p:cond delay="0"/>
                            </p:stCondLst>
                            <p:childTnLst>
                              <p:par>
                                <p:cTn id="83" presetID="10" presetClass="entr" presetSubtype="0" fill="hold" grpId="0" nodeType="clickEffect">
                                  <p:stCondLst>
                                    <p:cond delay="0"/>
                                  </p:stCondLst>
                                  <p:childTnLst>
                                    <p:set>
                                      <p:cBhvr>
                                        <p:cTn id="84" dur="1" fill="hold">
                                          <p:stCondLst>
                                            <p:cond delay="0"/>
                                          </p:stCondLst>
                                        </p:cTn>
                                        <p:tgtEl>
                                          <p:spTgt spid="35"/>
                                        </p:tgtEl>
                                        <p:attrNameLst>
                                          <p:attrName>style.visibility</p:attrName>
                                        </p:attrNameLst>
                                      </p:cBhvr>
                                      <p:to>
                                        <p:strVal val="visible"/>
                                      </p:to>
                                    </p:set>
                                    <p:animEffect transition="in" filter="fade">
                                      <p:cBhvr>
                                        <p:cTn id="85" dur="400"/>
                                        <p:tgtEl>
                                          <p:spTgt spid="35"/>
                                        </p:tgtEl>
                                      </p:cBhvr>
                                    </p:animEffect>
                                  </p:childTnLst>
                                </p:cTn>
                              </p:par>
                              <p:par>
                                <p:cTn id="86" presetID="10" presetClass="entr" presetSubtype="0" fill="hold" grpId="0" nodeType="withEffect">
                                  <p:stCondLst>
                                    <p:cond delay="0"/>
                                  </p:stCondLst>
                                  <p:childTnLst>
                                    <p:set>
                                      <p:cBhvr>
                                        <p:cTn id="87" dur="1" fill="hold">
                                          <p:stCondLst>
                                            <p:cond delay="0"/>
                                          </p:stCondLst>
                                        </p:cTn>
                                        <p:tgtEl>
                                          <p:spTgt spid="36"/>
                                        </p:tgtEl>
                                        <p:attrNameLst>
                                          <p:attrName>style.visibility</p:attrName>
                                        </p:attrNameLst>
                                      </p:cBhvr>
                                      <p:to>
                                        <p:strVal val="visible"/>
                                      </p:to>
                                    </p:set>
                                    <p:animEffect transition="in" filter="fade">
                                      <p:cBhvr>
                                        <p:cTn id="88" dur="400"/>
                                        <p:tgtEl>
                                          <p:spTgt spid="36"/>
                                        </p:tgtEl>
                                      </p:cBhvr>
                                    </p:animEffect>
                                  </p:childTnLst>
                                </p:cTn>
                              </p:par>
                              <p:par>
                                <p:cTn id="89" presetID="10" presetClass="entr" presetSubtype="0" fill="hold" grpId="0" nodeType="withEffect">
                                  <p:stCondLst>
                                    <p:cond delay="0"/>
                                  </p:stCondLst>
                                  <p:childTnLst>
                                    <p:set>
                                      <p:cBhvr>
                                        <p:cTn id="90" dur="1" fill="hold">
                                          <p:stCondLst>
                                            <p:cond delay="0"/>
                                          </p:stCondLst>
                                        </p:cTn>
                                        <p:tgtEl>
                                          <p:spTgt spid="38"/>
                                        </p:tgtEl>
                                        <p:attrNameLst>
                                          <p:attrName>style.visibility</p:attrName>
                                        </p:attrNameLst>
                                      </p:cBhvr>
                                      <p:to>
                                        <p:strVal val="visible"/>
                                      </p:to>
                                    </p:set>
                                    <p:animEffect transition="in" filter="fade">
                                      <p:cBhvr>
                                        <p:cTn id="91" dur="400"/>
                                        <p:tgtEl>
                                          <p:spTgt spid="38"/>
                                        </p:tgtEl>
                                      </p:cBhvr>
                                    </p:animEffect>
                                  </p:childTnLst>
                                </p:cTn>
                              </p:par>
                              <p:par>
                                <p:cTn id="92" presetID="10" presetClass="entr" presetSubtype="0" fill="hold" grpId="0" nodeType="withEffect">
                                  <p:stCondLst>
                                    <p:cond delay="0"/>
                                  </p:stCondLst>
                                  <p:childTnLst>
                                    <p:set>
                                      <p:cBhvr>
                                        <p:cTn id="93" dur="1" fill="hold">
                                          <p:stCondLst>
                                            <p:cond delay="0"/>
                                          </p:stCondLst>
                                        </p:cTn>
                                        <p:tgtEl>
                                          <p:spTgt spid="39"/>
                                        </p:tgtEl>
                                        <p:attrNameLst>
                                          <p:attrName>style.visibility</p:attrName>
                                        </p:attrNameLst>
                                      </p:cBhvr>
                                      <p:to>
                                        <p:strVal val="visible"/>
                                      </p:to>
                                    </p:set>
                                    <p:animEffect transition="in" filter="fade">
                                      <p:cBhvr>
                                        <p:cTn id="94" dur="400"/>
                                        <p:tgtEl>
                                          <p:spTgt spid="39"/>
                                        </p:tgtEl>
                                      </p:cBhvr>
                                    </p:animEffect>
                                  </p:childTnLst>
                                </p:cTn>
                              </p:par>
                              <p:par>
                                <p:cTn id="95" presetID="10" presetClass="entr" presetSubtype="0" fill="hold" grpId="0" nodeType="withEffect">
                                  <p:stCondLst>
                                    <p:cond delay="0"/>
                                  </p:stCondLst>
                                  <p:childTnLst>
                                    <p:set>
                                      <p:cBhvr>
                                        <p:cTn id="96" dur="1" fill="hold">
                                          <p:stCondLst>
                                            <p:cond delay="0"/>
                                          </p:stCondLst>
                                        </p:cTn>
                                        <p:tgtEl>
                                          <p:spTgt spid="40"/>
                                        </p:tgtEl>
                                        <p:attrNameLst>
                                          <p:attrName>style.visibility</p:attrName>
                                        </p:attrNameLst>
                                      </p:cBhvr>
                                      <p:to>
                                        <p:strVal val="visible"/>
                                      </p:to>
                                    </p:set>
                                    <p:animEffect transition="in" filter="fade">
                                      <p:cBhvr>
                                        <p:cTn id="97" dur="400"/>
                                        <p:tgtEl>
                                          <p:spTgt spid="40"/>
                                        </p:tgtEl>
                                      </p:cBhvr>
                                    </p:animEffect>
                                  </p:childTnLst>
                                </p:cTn>
                              </p:par>
                              <p:par>
                                <p:cTn id="98" presetID="10" presetClass="entr" presetSubtype="0" fill="hold" grpId="0" nodeType="withEffect">
                                  <p:stCondLst>
                                    <p:cond delay="0"/>
                                  </p:stCondLst>
                                  <p:childTnLst>
                                    <p:set>
                                      <p:cBhvr>
                                        <p:cTn id="99" dur="1" fill="hold">
                                          <p:stCondLst>
                                            <p:cond delay="0"/>
                                          </p:stCondLst>
                                        </p:cTn>
                                        <p:tgtEl>
                                          <p:spTgt spid="41"/>
                                        </p:tgtEl>
                                        <p:attrNameLst>
                                          <p:attrName>style.visibility</p:attrName>
                                        </p:attrNameLst>
                                      </p:cBhvr>
                                      <p:to>
                                        <p:strVal val="visible"/>
                                      </p:to>
                                    </p:set>
                                    <p:animEffect transition="in" filter="fade">
                                      <p:cBhvr>
                                        <p:cTn id="100" dur="400"/>
                                        <p:tgtEl>
                                          <p:spTgt spid="41"/>
                                        </p:tgtEl>
                                      </p:cBhvr>
                                    </p:animEffect>
                                  </p:childTnLst>
                                </p:cTn>
                              </p:par>
                              <p:par>
                                <p:cTn id="101" presetID="10" presetClass="entr" presetSubtype="0" fill="hold" grpId="0" nodeType="withEffect">
                                  <p:stCondLst>
                                    <p:cond delay="0"/>
                                  </p:stCondLst>
                                  <p:childTnLst>
                                    <p:set>
                                      <p:cBhvr>
                                        <p:cTn id="102" dur="1" fill="hold">
                                          <p:stCondLst>
                                            <p:cond delay="0"/>
                                          </p:stCondLst>
                                        </p:cTn>
                                        <p:tgtEl>
                                          <p:spTgt spid="42"/>
                                        </p:tgtEl>
                                        <p:attrNameLst>
                                          <p:attrName>style.visibility</p:attrName>
                                        </p:attrNameLst>
                                      </p:cBhvr>
                                      <p:to>
                                        <p:strVal val="visible"/>
                                      </p:to>
                                    </p:set>
                                    <p:animEffect transition="in" filter="fade">
                                      <p:cBhvr>
                                        <p:cTn id="103" dur="400"/>
                                        <p:tgtEl>
                                          <p:spTgt spid="42"/>
                                        </p:tgtEl>
                                      </p:cBhvr>
                                    </p:animEffect>
                                  </p:childTnLst>
                                </p:cTn>
                              </p:par>
                              <p:par>
                                <p:cTn id="104" presetID="10" presetClass="entr" presetSubtype="0" fill="hold" grpId="0" nodeType="withEffect">
                                  <p:stCondLst>
                                    <p:cond delay="0"/>
                                  </p:stCondLst>
                                  <p:childTnLst>
                                    <p:set>
                                      <p:cBhvr>
                                        <p:cTn id="105" dur="1" fill="hold">
                                          <p:stCondLst>
                                            <p:cond delay="0"/>
                                          </p:stCondLst>
                                        </p:cTn>
                                        <p:tgtEl>
                                          <p:spTgt spid="43"/>
                                        </p:tgtEl>
                                        <p:attrNameLst>
                                          <p:attrName>style.visibility</p:attrName>
                                        </p:attrNameLst>
                                      </p:cBhvr>
                                      <p:to>
                                        <p:strVal val="visible"/>
                                      </p:to>
                                    </p:set>
                                    <p:animEffect transition="in" filter="fade">
                                      <p:cBhvr>
                                        <p:cTn id="106" dur="4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1" grpId="0" animBg="1"/>
      <p:bldP spid="12" grpId="0" animBg="1"/>
      <p:bldP spid="13" grpId="0" animBg="1"/>
      <p:bldP spid="14" grpId="0" animBg="1"/>
      <p:bldP spid="15" grpId="0" animBg="1"/>
      <p:bldP spid="16" grpId="0" animBg="1"/>
      <p:bldP spid="17" grpId="0" animBg="1"/>
      <p:bldP spid="18" grpId="0" animBg="1"/>
      <p:bldP spid="20" grpId="0" animBg="1"/>
      <p:bldP spid="21" grpId="0" animBg="1"/>
      <p:bldP spid="22" grpId="0" animBg="1"/>
      <p:bldP spid="23" grpId="0" animBg="1"/>
      <p:bldP spid="24" grpId="0" animBg="1"/>
      <p:bldP spid="25" grpId="0" animBg="1"/>
      <p:bldP spid="26" grpId="0" animBg="1"/>
      <p:bldP spid="27" grpId="0" animBg="1"/>
      <p:bldP spid="29" grpId="0" animBg="1"/>
      <p:bldP spid="30" grpId="0" animBg="1"/>
      <p:bldP spid="31" grpId="0" animBg="1"/>
      <p:bldP spid="32" grpId="0" animBg="1"/>
      <p:bldP spid="33" grpId="0" animBg="1"/>
      <p:bldP spid="34" grpId="0" animBg="1"/>
      <p:bldP spid="35" grpId="0" animBg="1"/>
      <p:bldP spid="36" grpId="0" animBg="1"/>
      <p:bldP spid="38" grpId="0" animBg="1"/>
      <p:bldP spid="39" grpId="0" animBg="1"/>
      <p:bldP spid="40" grpId="0" animBg="1"/>
      <p:bldP spid="41" grpId="0" animBg="1"/>
      <p:bldP spid="42" grpId="0" animBg="1"/>
      <p:bldP spid="43"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75BC20"/>
        </a:solidFill>
      </p:bgPr>
    </p:bg>
    <p:spTree>
      <p:nvGrpSpPr>
        <p:cNvPr id="1" name=""/>
        <p:cNvGrpSpPr/>
        <p:nvPr/>
      </p:nvGrpSpPr>
      <p:grpSpPr>
        <a:xfrm>
          <a:off x="0" y="0"/>
          <a:ext cx="0" cy="0"/>
          <a:chOff x="0" y="0"/>
          <a:chExt cx="0" cy="0"/>
        </a:xfrm>
      </p:grpSpPr>
      <p:sp>
        <p:nvSpPr>
          <p:cNvPr id="3" name="card"/>
          <p:cNvSpPr/>
          <p:nvPr/>
        </p:nvSpPr>
        <p:spPr>
          <a:xfrm>
            <a:off x="201168" y="201168"/>
            <a:ext cx="11789359" cy="6455664"/>
          </a:xfrm>
          <a:prstGeom prst="roundRect">
            <a:avLst>
              <a:gd name="adj" fmla="val 4249"/>
            </a:avLst>
          </a:prstGeom>
          <a:solidFill>
            <a:srgbClr val="FFF9E3"/>
          </a:solidFill>
          <a:ln w="12700">
            <a:solidFill>
              <a:srgbClr val="FFF9E3"/>
            </a:solidFill>
            <a:prstDash val="solid"/>
          </a:ln>
        </p:spPr>
      </p:sp>
      <p:pic>
        <p:nvPicPr>
          <p:cNvPr id="4" name="logo" descr="img/dole_logo.png">    </p:cNvPr>
          <p:cNvPicPr>
            <a:picLocks noChangeAspect="1"/>
          </p:cNvPicPr>
          <p:nvPr/>
        </p:nvPicPr>
        <p:blipFill>
          <a:blip r:embed="rId1"/>
          <a:stretch>
            <a:fillRect/>
          </a:stretch>
        </p:blipFill>
        <p:spPr>
          <a:xfrm>
            <a:off x="10515600" y="457200"/>
            <a:ext cx="987552" cy="501522"/>
          </a:xfrm>
          <a:prstGeom prst="rect">
            <a:avLst/>
          </a:prstGeom>
        </p:spPr>
      </p:pic>
      <p:sp>
        <p:nvSpPr>
          <p:cNvPr id="5" name="kicker"/>
          <p:cNvSpPr txBox="1"/>
          <p:nvPr/>
        </p:nvSpPr>
        <p:spPr>
          <a:xfrm>
            <a:off x="685800" y="475488"/>
            <a:ext cx="9326880" cy="292608"/>
          </a:xfrm>
          <a:prstGeom prst="rect">
            <a:avLst/>
          </a:prstGeom>
          <a:noFill/>
          <a:ln/>
        </p:spPr>
        <p:txBody>
          <a:bodyPr wrap="square" lIns="0" tIns="0" rIns="0" bIns="0" rtlCol="0" anchor="t"/>
          <a:lstStyle/>
          <a:p>
            <a:pPr indent="0" marL="0">
              <a:buNone/>
            </a:pPr>
            <a:r>
              <a:rPr lang="en-US" sz="1300" b="1" spc="150" kern="0" dirty="0">
                <a:solidFill>
                  <a:srgbClr val="C70F2E"/>
                </a:solidFill>
                <a:latin typeface="Arial" pitchFamily="34" charset="0"/>
                <a:ea typeface="Arial" pitchFamily="34" charset="-122"/>
                <a:cs typeface="Arial" pitchFamily="34" charset="-120"/>
              </a:rPr>
              <a:t>COME LO FACCIAMO?  ·  LA NOSTRA PROPOSTA</a:t>
            </a:r>
            <a:endParaRPr lang="en-US" sz="1300" dirty="0"/>
          </a:p>
        </p:txBody>
      </p:sp>
      <p:sp>
        <p:nvSpPr>
          <p:cNvPr id="6" name="title"/>
          <p:cNvSpPr txBox="1"/>
          <p:nvPr/>
        </p:nvSpPr>
        <p:spPr>
          <a:xfrm>
            <a:off x="685800" y="822960"/>
            <a:ext cx="9692640" cy="685800"/>
          </a:xfrm>
          <a:prstGeom prst="rect">
            <a:avLst/>
          </a:prstGeom>
          <a:noFill/>
          <a:ln/>
        </p:spPr>
        <p:txBody>
          <a:bodyPr wrap="square" lIns="0" tIns="0" rIns="0" bIns="0" rtlCol="0" anchor="t"/>
          <a:lstStyle/>
          <a:p>
            <a:pPr indent="0" marL="0">
              <a:buNone/>
            </a:pPr>
            <a:r>
              <a:rPr lang="en-US" sz="4000" b="1" i="1" dirty="0">
                <a:solidFill>
                  <a:srgbClr val="1700AC"/>
                </a:solidFill>
                <a:latin typeface="Cambria" pitchFamily="34" charset="0"/>
                <a:ea typeface="Cambria" pitchFamily="34" charset="-122"/>
                <a:cs typeface="Cambria" pitchFamily="34" charset="-120"/>
              </a:rPr>
              <a:t>Dole Fruit Up</a:t>
            </a:r>
            <a:endParaRPr lang="en-US" sz="4000" dirty="0"/>
          </a:p>
        </p:txBody>
      </p:sp>
      <p:sp>
        <p:nvSpPr>
          <p:cNvPr id="7" name="Text 3"/>
          <p:cNvSpPr txBox="1"/>
          <p:nvPr/>
        </p:nvSpPr>
        <p:spPr>
          <a:xfrm>
            <a:off x="685800" y="1536192"/>
            <a:ext cx="9692640" cy="384048"/>
          </a:xfrm>
          <a:prstGeom prst="rect">
            <a:avLst/>
          </a:prstGeom>
          <a:noFill/>
          <a:ln/>
        </p:spPr>
        <p:txBody>
          <a:bodyPr wrap="square" lIns="0" tIns="0" rIns="0" bIns="0" rtlCol="0" anchor="t"/>
          <a:lstStyle/>
          <a:p>
            <a:pPr indent="0" marL="0">
              <a:buNone/>
            </a:pPr>
            <a:r>
              <a:rPr lang="en-US" sz="1800" i="1" dirty="0">
                <a:solidFill>
                  <a:srgbClr val="C70F2E"/>
                </a:solidFill>
                <a:latin typeface="Arial" pitchFamily="34" charset="0"/>
                <a:ea typeface="Arial" pitchFamily="34" charset="-122"/>
                <a:cs typeface="Arial" pitchFamily="34" charset="-120"/>
              </a:rPr>
              <a:t>Fruit Up. Feel Good.  —  non una campagna: una piattaforma</a:t>
            </a:r>
            <a:endParaRPr lang="en-US" sz="1800" dirty="0"/>
          </a:p>
        </p:txBody>
      </p:sp>
      <p:sp>
        <p:nvSpPr>
          <p:cNvPr id="8" name="Shape 4"/>
          <p:cNvSpPr/>
          <p:nvPr/>
        </p:nvSpPr>
        <p:spPr>
          <a:xfrm>
            <a:off x="685800" y="2148840"/>
            <a:ext cx="2651760" cy="960120"/>
          </a:xfrm>
          <a:prstGeom prst="roundRect">
            <a:avLst>
              <a:gd name="adj" fmla="val 14286"/>
            </a:avLst>
          </a:prstGeom>
          <a:solidFill>
            <a:srgbClr val="FFFFFF"/>
          </a:solidFill>
          <a:ln w="12700">
            <a:solidFill>
              <a:srgbClr val="FFFFFF"/>
            </a:solidFill>
            <a:prstDash val="solid"/>
          </a:ln>
          <a:effectLst>
            <a:outerShdw sx="100000" sy="100000" kx="0" ky="0" algn="bl" rotWithShape="0" blurRad="76200" dist="19050" dir="5400000">
              <a:srgbClr val="000000">
                <a:alpha val="12000"/>
              </a:srgbClr>
            </a:outerShdw>
          </a:effectLst>
        </p:spPr>
      </p:sp>
      <p:sp>
        <p:nvSpPr>
          <p:cNvPr id="9" name="Text 5"/>
          <p:cNvSpPr txBox="1"/>
          <p:nvPr/>
        </p:nvSpPr>
        <p:spPr>
          <a:xfrm>
            <a:off x="886968" y="2267712"/>
            <a:ext cx="2286000" cy="228600"/>
          </a:xfrm>
          <a:prstGeom prst="rect">
            <a:avLst/>
          </a:prstGeom>
          <a:noFill/>
          <a:ln/>
        </p:spPr>
        <p:txBody>
          <a:bodyPr wrap="square" lIns="0" tIns="0" rIns="0" bIns="0" rtlCol="0" anchor="t"/>
          <a:lstStyle/>
          <a:p>
            <a:pPr indent="0" marL="0">
              <a:buNone/>
            </a:pPr>
            <a:r>
              <a:rPr lang="en-US" sz="1100" b="1" spc="150" kern="0" dirty="0">
                <a:solidFill>
                  <a:srgbClr val="75BC20"/>
                </a:solidFill>
                <a:latin typeface="Arial" pitchFamily="34" charset="0"/>
                <a:ea typeface="Arial" pitchFamily="34" charset="-122"/>
                <a:cs typeface="Arial" pitchFamily="34" charset="-120"/>
              </a:rPr>
              <a:t>PARTNER</a:t>
            </a:r>
            <a:endParaRPr lang="en-US" sz="1100" dirty="0"/>
          </a:p>
        </p:txBody>
      </p:sp>
      <p:sp>
        <p:nvSpPr>
          <p:cNvPr id="10" name="Text 6"/>
          <p:cNvSpPr txBox="1"/>
          <p:nvPr/>
        </p:nvSpPr>
        <p:spPr>
          <a:xfrm>
            <a:off x="886968" y="2487168"/>
            <a:ext cx="2286000" cy="329184"/>
          </a:xfrm>
          <a:prstGeom prst="rect">
            <a:avLst/>
          </a:prstGeom>
          <a:noFill/>
          <a:ln/>
        </p:spPr>
        <p:txBody>
          <a:bodyPr wrap="square" lIns="0" tIns="0" rIns="0" bIns="0" rtlCol="0" anchor="t"/>
          <a:lstStyle/>
          <a:p>
            <a:pPr indent="0" marL="0">
              <a:buNone/>
            </a:pPr>
            <a:r>
              <a:rPr lang="en-US" sz="1800" b="1" dirty="0">
                <a:solidFill>
                  <a:srgbClr val="001389"/>
                </a:solidFill>
                <a:latin typeface="Arial" pitchFamily="34" charset="0"/>
                <a:ea typeface="Arial" pitchFamily="34" charset="-122"/>
                <a:cs typeface="Arial" pitchFamily="34" charset="-120"/>
              </a:rPr>
              <a:t>FederCUSI</a:t>
            </a:r>
            <a:endParaRPr lang="en-US" sz="1800" dirty="0"/>
          </a:p>
        </p:txBody>
      </p:sp>
      <p:sp>
        <p:nvSpPr>
          <p:cNvPr id="11" name="Text 7"/>
          <p:cNvSpPr txBox="1"/>
          <p:nvPr/>
        </p:nvSpPr>
        <p:spPr>
          <a:xfrm>
            <a:off x="886968" y="2807208"/>
            <a:ext cx="2286000" cy="237744"/>
          </a:xfrm>
          <a:prstGeom prst="rect">
            <a:avLst/>
          </a:prstGeom>
          <a:noFill/>
          <a:ln/>
        </p:spPr>
        <p:txBody>
          <a:bodyPr wrap="square" lIns="0" tIns="0" rIns="0" bIns="0" rtlCol="0" anchor="t"/>
          <a:lstStyle/>
          <a:p>
            <a:pPr indent="0" marL="0">
              <a:buNone/>
            </a:pPr>
            <a:r>
              <a:rPr lang="en-US" sz="1200" dirty="0">
                <a:solidFill>
                  <a:srgbClr val="5F5D52"/>
                </a:solidFill>
                <a:latin typeface="Arial" pitchFamily="34" charset="0"/>
                <a:ea typeface="Arial" pitchFamily="34" charset="-122"/>
                <a:cs typeface="Arial" pitchFamily="34" charset="-120"/>
              </a:rPr>
              <a:t>la rete dei CUS in tutta Italia</a:t>
            </a:r>
            <a:endParaRPr lang="en-US" sz="1200" dirty="0"/>
          </a:p>
        </p:txBody>
      </p:sp>
      <p:sp>
        <p:nvSpPr>
          <p:cNvPr id="12" name="Shape 8"/>
          <p:cNvSpPr/>
          <p:nvPr/>
        </p:nvSpPr>
        <p:spPr>
          <a:xfrm>
            <a:off x="3474720" y="2148840"/>
            <a:ext cx="2651760" cy="960120"/>
          </a:xfrm>
          <a:prstGeom prst="roundRect">
            <a:avLst>
              <a:gd name="adj" fmla="val 14286"/>
            </a:avLst>
          </a:prstGeom>
          <a:solidFill>
            <a:srgbClr val="FFFFFF"/>
          </a:solidFill>
          <a:ln w="12700">
            <a:solidFill>
              <a:srgbClr val="FFFFFF"/>
            </a:solidFill>
            <a:prstDash val="solid"/>
          </a:ln>
          <a:effectLst>
            <a:outerShdw sx="100000" sy="100000" kx="0" ky="0" algn="bl" rotWithShape="0" blurRad="76200" dist="19050" dir="5400000">
              <a:srgbClr val="000000">
                <a:alpha val="12000"/>
              </a:srgbClr>
            </a:outerShdw>
          </a:effectLst>
        </p:spPr>
      </p:sp>
      <p:sp>
        <p:nvSpPr>
          <p:cNvPr id="13" name="Text 9"/>
          <p:cNvSpPr txBox="1"/>
          <p:nvPr/>
        </p:nvSpPr>
        <p:spPr>
          <a:xfrm>
            <a:off x="3675888" y="2267712"/>
            <a:ext cx="2286000" cy="228600"/>
          </a:xfrm>
          <a:prstGeom prst="rect">
            <a:avLst/>
          </a:prstGeom>
          <a:noFill/>
          <a:ln/>
        </p:spPr>
        <p:txBody>
          <a:bodyPr wrap="square" lIns="0" tIns="0" rIns="0" bIns="0" rtlCol="0" anchor="t"/>
          <a:lstStyle/>
          <a:p>
            <a:pPr indent="0" marL="0">
              <a:buNone/>
            </a:pPr>
            <a:r>
              <a:rPr lang="en-US" sz="1100" b="1" spc="150" kern="0" dirty="0">
                <a:solidFill>
                  <a:srgbClr val="75BC20"/>
                </a:solidFill>
                <a:latin typeface="Arial" pitchFamily="34" charset="0"/>
                <a:ea typeface="Arial" pitchFamily="34" charset="-122"/>
                <a:cs typeface="Arial" pitchFamily="34" charset="-120"/>
              </a:rPr>
              <a:t>PILOTA</a:t>
            </a:r>
            <a:endParaRPr lang="en-US" sz="1100" dirty="0"/>
          </a:p>
        </p:txBody>
      </p:sp>
      <p:sp>
        <p:nvSpPr>
          <p:cNvPr id="14" name="Text 10"/>
          <p:cNvSpPr txBox="1"/>
          <p:nvPr/>
        </p:nvSpPr>
        <p:spPr>
          <a:xfrm>
            <a:off x="3675888" y="2487168"/>
            <a:ext cx="2286000" cy="329184"/>
          </a:xfrm>
          <a:prstGeom prst="rect">
            <a:avLst/>
          </a:prstGeom>
          <a:noFill/>
          <a:ln/>
        </p:spPr>
        <p:txBody>
          <a:bodyPr wrap="square" lIns="0" tIns="0" rIns="0" bIns="0" rtlCol="0" anchor="t"/>
          <a:lstStyle/>
          <a:p>
            <a:pPr indent="0" marL="0">
              <a:buNone/>
            </a:pPr>
            <a:r>
              <a:rPr lang="en-US" sz="1800" b="1" dirty="0">
                <a:solidFill>
                  <a:srgbClr val="001389"/>
                </a:solidFill>
                <a:latin typeface="Arial" pitchFamily="34" charset="0"/>
                <a:ea typeface="Arial" pitchFamily="34" charset="-122"/>
                <a:cs typeface="Arial" pitchFamily="34" charset="-120"/>
              </a:rPr>
              <a:t>JTWIA · Torino</a:t>
            </a:r>
            <a:endParaRPr lang="en-US" sz="1800" dirty="0"/>
          </a:p>
        </p:txBody>
      </p:sp>
      <p:sp>
        <p:nvSpPr>
          <p:cNvPr id="15" name="Text 11"/>
          <p:cNvSpPr txBox="1"/>
          <p:nvPr/>
        </p:nvSpPr>
        <p:spPr>
          <a:xfrm>
            <a:off x="3675888" y="2807208"/>
            <a:ext cx="2286000" cy="237744"/>
          </a:xfrm>
          <a:prstGeom prst="rect">
            <a:avLst/>
          </a:prstGeom>
          <a:noFill/>
          <a:ln/>
        </p:spPr>
        <p:txBody>
          <a:bodyPr wrap="square" lIns="0" tIns="0" rIns="0" bIns="0" rtlCol="0" anchor="t"/>
          <a:lstStyle/>
          <a:p>
            <a:pPr indent="0" marL="0">
              <a:buNone/>
            </a:pPr>
            <a:r>
              <a:rPr lang="en-US" sz="1200" dirty="0">
                <a:solidFill>
                  <a:srgbClr val="5F5D52"/>
                </a:solidFill>
                <a:latin typeface="Arial" pitchFamily="34" charset="0"/>
                <a:ea typeface="Arial" pitchFamily="34" charset="-122"/>
                <a:cs typeface="Arial" pitchFamily="34" charset="-120"/>
              </a:rPr>
              <a:t>marzo 2027 · 33.000 iscritti</a:t>
            </a:r>
            <a:endParaRPr lang="en-US" sz="1200" dirty="0"/>
          </a:p>
        </p:txBody>
      </p:sp>
      <p:sp>
        <p:nvSpPr>
          <p:cNvPr id="16" name="Shape 12"/>
          <p:cNvSpPr/>
          <p:nvPr/>
        </p:nvSpPr>
        <p:spPr>
          <a:xfrm>
            <a:off x="685800" y="3364992"/>
            <a:ext cx="347472" cy="347472"/>
          </a:xfrm>
          <a:prstGeom prst="ellipse">
            <a:avLst/>
          </a:prstGeom>
          <a:solidFill>
            <a:srgbClr val="001389"/>
          </a:solidFill>
          <a:ln w="12700">
            <a:solidFill>
              <a:srgbClr val="001389"/>
            </a:solidFill>
            <a:prstDash val="solid"/>
          </a:ln>
        </p:spPr>
      </p:sp>
      <p:sp>
        <p:nvSpPr>
          <p:cNvPr id="17" name="Text 13"/>
          <p:cNvSpPr txBox="1"/>
          <p:nvPr/>
        </p:nvSpPr>
        <p:spPr>
          <a:xfrm>
            <a:off x="685800" y="3364992"/>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18" name="Text 14"/>
          <p:cNvSpPr txBox="1"/>
          <p:nvPr/>
        </p:nvSpPr>
        <p:spPr>
          <a:xfrm>
            <a:off x="1188720" y="3364992"/>
            <a:ext cx="5029200" cy="347472"/>
          </a:xfrm>
          <a:prstGeom prst="rect">
            <a:avLst/>
          </a:prstGeom>
          <a:noFill/>
          <a:ln/>
        </p:spPr>
        <p:txBody>
          <a:bodyPr wrap="square" lIns="0" tIns="0" rIns="0" bIns="0" rtlCol="0" anchor="ctr"/>
          <a:lstStyle/>
          <a:p>
            <a:pPr indent="0" marL="0">
              <a:buNone/>
            </a:pPr>
            <a:r>
              <a:rPr lang="en-US" sz="1500" b="1" dirty="0">
                <a:solidFill>
                  <a:srgbClr val="001389"/>
                </a:solidFill>
                <a:latin typeface="Arial" pitchFamily="34" charset="0"/>
                <a:ea typeface="Arial" pitchFamily="34" charset="-122"/>
                <a:cs typeface="Arial" pitchFamily="34" charset="-120"/>
              </a:rPr>
              <a:t>Kit Farm Code</a:t>
            </a:r>
            <a:pPr indent="0" marL="0">
              <a:buNone/>
            </a:pPr>
            <a:r>
              <a:rPr lang="en-US" sz="1500" dirty="0">
                <a:solidFill>
                  <a:srgbClr val="5F5D52"/>
                </a:solidFill>
                <a:latin typeface="Arial" pitchFamily="34" charset="0"/>
                <a:ea typeface="Arial" pitchFamily="34" charset="-122"/>
                <a:cs typeface="Arial" pitchFamily="34" charset="-120"/>
              </a:rPr>
              <a:t>   da dove arriva la frutta</a:t>
            </a:r>
            <a:endParaRPr lang="en-US" sz="1500" dirty="0"/>
          </a:p>
        </p:txBody>
      </p:sp>
      <p:sp>
        <p:nvSpPr>
          <p:cNvPr id="19" name="Shape 15"/>
          <p:cNvSpPr/>
          <p:nvPr/>
        </p:nvSpPr>
        <p:spPr>
          <a:xfrm>
            <a:off x="685800" y="3822192"/>
            <a:ext cx="347472" cy="347472"/>
          </a:xfrm>
          <a:prstGeom prst="ellipse">
            <a:avLst/>
          </a:prstGeom>
          <a:solidFill>
            <a:srgbClr val="001389"/>
          </a:solidFill>
          <a:ln w="12700">
            <a:solidFill>
              <a:srgbClr val="001389"/>
            </a:solidFill>
            <a:prstDash val="solid"/>
          </a:ln>
        </p:spPr>
      </p:sp>
      <p:sp>
        <p:nvSpPr>
          <p:cNvPr id="20" name="Text 16"/>
          <p:cNvSpPr txBox="1"/>
          <p:nvPr/>
        </p:nvSpPr>
        <p:spPr>
          <a:xfrm>
            <a:off x="685800" y="3822192"/>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21" name="Text 17"/>
          <p:cNvSpPr txBox="1"/>
          <p:nvPr/>
        </p:nvSpPr>
        <p:spPr>
          <a:xfrm>
            <a:off x="1188720" y="3822192"/>
            <a:ext cx="5029200" cy="347472"/>
          </a:xfrm>
          <a:prstGeom prst="rect">
            <a:avLst/>
          </a:prstGeom>
          <a:noFill/>
          <a:ln/>
        </p:spPr>
        <p:txBody>
          <a:bodyPr wrap="square" lIns="0" tIns="0" rIns="0" bIns="0" rtlCol="0" anchor="ctr"/>
          <a:lstStyle/>
          <a:p>
            <a:pPr indent="0" marL="0">
              <a:buNone/>
            </a:pPr>
            <a:r>
              <a:rPr lang="en-US" sz="1500" b="1" dirty="0">
                <a:solidFill>
                  <a:srgbClr val="001389"/>
                </a:solidFill>
                <a:latin typeface="Arial" pitchFamily="34" charset="0"/>
                <a:ea typeface="Arial" pitchFamily="34" charset="-122"/>
                <a:cs typeface="Arial" pitchFamily="34" charset="-120"/>
              </a:rPr>
              <a:t>Fruit Up Zone</a:t>
            </a:r>
            <a:pPr indent="0" marL="0">
              <a:buNone/>
            </a:pPr>
            <a:r>
              <a:rPr lang="en-US" sz="1500" dirty="0">
                <a:solidFill>
                  <a:srgbClr val="5F5D52"/>
                </a:solidFill>
                <a:latin typeface="Arial" pitchFamily="34" charset="0"/>
                <a:ea typeface="Arial" pitchFamily="34" charset="-122"/>
                <a:cs typeface="Arial" pitchFamily="34" charset="-120"/>
              </a:rPr>
              <a:t>   frutta e relax, niente cronometri</a:t>
            </a:r>
            <a:endParaRPr lang="en-US" sz="1500" dirty="0"/>
          </a:p>
        </p:txBody>
      </p:sp>
      <p:sp>
        <p:nvSpPr>
          <p:cNvPr id="22" name="Shape 18"/>
          <p:cNvSpPr/>
          <p:nvPr/>
        </p:nvSpPr>
        <p:spPr>
          <a:xfrm>
            <a:off x="685800" y="4279392"/>
            <a:ext cx="347472" cy="347472"/>
          </a:xfrm>
          <a:prstGeom prst="ellipse">
            <a:avLst/>
          </a:prstGeom>
          <a:solidFill>
            <a:srgbClr val="C70F2E"/>
          </a:solidFill>
          <a:ln w="12700">
            <a:solidFill>
              <a:srgbClr val="C70F2E"/>
            </a:solidFill>
            <a:prstDash val="solid"/>
          </a:ln>
        </p:spPr>
      </p:sp>
      <p:sp>
        <p:nvSpPr>
          <p:cNvPr id="23" name="Text 19"/>
          <p:cNvSpPr txBox="1"/>
          <p:nvPr/>
        </p:nvSpPr>
        <p:spPr>
          <a:xfrm>
            <a:off x="685800" y="4279392"/>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24" name="Text 20"/>
          <p:cNvSpPr txBox="1"/>
          <p:nvPr/>
        </p:nvSpPr>
        <p:spPr>
          <a:xfrm>
            <a:off x="1188720" y="4279392"/>
            <a:ext cx="5029200" cy="347472"/>
          </a:xfrm>
          <a:prstGeom prst="rect">
            <a:avLst/>
          </a:prstGeom>
          <a:noFill/>
          <a:ln/>
        </p:spPr>
        <p:txBody>
          <a:bodyPr wrap="square" lIns="0" tIns="0" rIns="0" bIns="0" rtlCol="0" anchor="ctr"/>
          <a:lstStyle/>
          <a:p>
            <a:pPr indent="0" marL="0">
              <a:buNone/>
            </a:pPr>
            <a:r>
              <a:rPr lang="en-US" sz="1500" b="1" dirty="0">
                <a:solidFill>
                  <a:srgbClr val="C70F2E"/>
                </a:solidFill>
                <a:latin typeface="Arial" pitchFamily="34" charset="0"/>
                <a:ea typeface="Arial" pitchFamily="34" charset="-122"/>
                <a:cs typeface="Arial" pitchFamily="34" charset="-120"/>
              </a:rPr>
              <a:t>Wall «Oggi come ti senti?»</a:t>
            </a:r>
            <a:endParaRPr lang="en-US" sz="1500" dirty="0"/>
          </a:p>
        </p:txBody>
      </p:sp>
      <p:sp>
        <p:nvSpPr>
          <p:cNvPr id="25" name="Shape 21"/>
          <p:cNvSpPr/>
          <p:nvPr/>
        </p:nvSpPr>
        <p:spPr>
          <a:xfrm>
            <a:off x="685800" y="4736592"/>
            <a:ext cx="347472" cy="347472"/>
          </a:xfrm>
          <a:prstGeom prst="ellipse">
            <a:avLst/>
          </a:prstGeom>
          <a:solidFill>
            <a:srgbClr val="001389"/>
          </a:solidFill>
          <a:ln w="12700">
            <a:solidFill>
              <a:srgbClr val="001389"/>
            </a:solidFill>
            <a:prstDash val="solid"/>
          </a:ln>
        </p:spPr>
      </p:sp>
      <p:sp>
        <p:nvSpPr>
          <p:cNvPr id="26" name="Text 22"/>
          <p:cNvSpPr txBox="1"/>
          <p:nvPr/>
        </p:nvSpPr>
        <p:spPr>
          <a:xfrm>
            <a:off x="685800" y="4736592"/>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4</a:t>
            </a:r>
            <a:endParaRPr lang="en-US" sz="1300" dirty="0"/>
          </a:p>
        </p:txBody>
      </p:sp>
      <p:sp>
        <p:nvSpPr>
          <p:cNvPr id="27" name="Text 23"/>
          <p:cNvSpPr txBox="1"/>
          <p:nvPr/>
        </p:nvSpPr>
        <p:spPr>
          <a:xfrm>
            <a:off x="1188720" y="4736592"/>
            <a:ext cx="5029200" cy="347472"/>
          </a:xfrm>
          <a:prstGeom prst="rect">
            <a:avLst/>
          </a:prstGeom>
          <a:noFill/>
          <a:ln/>
        </p:spPr>
        <p:txBody>
          <a:bodyPr wrap="square" lIns="0" tIns="0" rIns="0" bIns="0" rtlCol="0" anchor="ctr"/>
          <a:lstStyle/>
          <a:p>
            <a:pPr indent="0" marL="0">
              <a:buNone/>
            </a:pPr>
            <a:r>
              <a:rPr lang="en-US" sz="1500" b="1" dirty="0">
                <a:solidFill>
                  <a:srgbClr val="001389"/>
                </a:solidFill>
                <a:latin typeface="Arial" pitchFamily="34" charset="0"/>
                <a:ea typeface="Arial" pitchFamily="34" charset="-122"/>
                <a:cs typeface="Arial" pitchFamily="34" charset="-120"/>
              </a:rPr>
              <a:t>QR</a:t>
            </a:r>
            <a:pPr indent="0" marL="0">
              <a:buNone/>
            </a:pPr>
            <a:r>
              <a:rPr lang="en-US" sz="1500" dirty="0">
                <a:solidFill>
                  <a:srgbClr val="5F5D52"/>
                </a:solidFill>
                <a:latin typeface="Arial" pitchFamily="34" charset="0"/>
                <a:ea typeface="Arial" pitchFamily="34" charset="-122"/>
                <a:cs typeface="Arial" pitchFamily="34" charset="-120"/>
              </a:rPr>
              <a:t>   iscrizione al Club della propria città</a:t>
            </a:r>
            <a:endParaRPr lang="en-US" sz="1500" dirty="0"/>
          </a:p>
        </p:txBody>
      </p:sp>
      <p:sp>
        <p:nvSpPr>
          <p:cNvPr id="28" name="Shape 24"/>
          <p:cNvSpPr/>
          <p:nvPr/>
        </p:nvSpPr>
        <p:spPr>
          <a:xfrm>
            <a:off x="685800" y="5193792"/>
            <a:ext cx="347472" cy="347472"/>
          </a:xfrm>
          <a:prstGeom prst="ellipse">
            <a:avLst/>
          </a:prstGeom>
          <a:solidFill>
            <a:srgbClr val="001389"/>
          </a:solidFill>
          <a:ln w="12700">
            <a:solidFill>
              <a:srgbClr val="001389"/>
            </a:solidFill>
            <a:prstDash val="solid"/>
          </a:ln>
        </p:spPr>
      </p:sp>
      <p:sp>
        <p:nvSpPr>
          <p:cNvPr id="29" name="Text 25"/>
          <p:cNvSpPr txBox="1"/>
          <p:nvPr/>
        </p:nvSpPr>
        <p:spPr>
          <a:xfrm>
            <a:off x="685800" y="5193792"/>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5</a:t>
            </a:r>
            <a:endParaRPr lang="en-US" sz="1300" dirty="0"/>
          </a:p>
        </p:txBody>
      </p:sp>
      <p:sp>
        <p:nvSpPr>
          <p:cNvPr id="30" name="Text 26"/>
          <p:cNvSpPr txBox="1"/>
          <p:nvPr/>
        </p:nvSpPr>
        <p:spPr>
          <a:xfrm>
            <a:off x="1188720" y="5193792"/>
            <a:ext cx="5029200" cy="347472"/>
          </a:xfrm>
          <a:prstGeom prst="rect">
            <a:avLst/>
          </a:prstGeom>
          <a:noFill/>
          <a:ln/>
        </p:spPr>
        <p:txBody>
          <a:bodyPr wrap="square" lIns="0" tIns="0" rIns="0" bIns="0" rtlCol="0" anchor="ctr"/>
          <a:lstStyle/>
          <a:p>
            <a:pPr indent="0" marL="0">
              <a:buNone/>
            </a:pPr>
            <a:r>
              <a:rPr lang="en-US" sz="1500" b="1" dirty="0">
                <a:solidFill>
                  <a:srgbClr val="001389"/>
                </a:solidFill>
                <a:latin typeface="Arial" pitchFamily="34" charset="0"/>
                <a:ea typeface="Arial" pitchFamily="34" charset="-122"/>
                <a:cs typeface="Arial" pitchFamily="34" charset="-120"/>
              </a:rPr>
              <a:t>Fruit Up Club</a:t>
            </a:r>
            <a:pPr indent="0" marL="0">
              <a:buNone/>
            </a:pPr>
            <a:r>
              <a:rPr lang="en-US" sz="1500" dirty="0">
                <a:solidFill>
                  <a:srgbClr val="5F5D52"/>
                </a:solidFill>
                <a:latin typeface="Arial" pitchFamily="34" charset="0"/>
                <a:ea typeface="Arial" pitchFamily="34" charset="-122"/>
                <a:cs typeface="Arial" pitchFamily="34" charset="-120"/>
              </a:rPr>
              <a:t>   sport ogni settimana, senza agonismo</a:t>
            </a:r>
            <a:endParaRPr lang="en-US" sz="1500" dirty="0"/>
          </a:p>
        </p:txBody>
      </p:sp>
      <p:sp>
        <p:nvSpPr>
          <p:cNvPr id="31" name="Shape 27"/>
          <p:cNvSpPr/>
          <p:nvPr/>
        </p:nvSpPr>
        <p:spPr>
          <a:xfrm>
            <a:off x="685800" y="5650992"/>
            <a:ext cx="347472" cy="347472"/>
          </a:xfrm>
          <a:prstGeom prst="ellipse">
            <a:avLst/>
          </a:prstGeom>
          <a:solidFill>
            <a:srgbClr val="75BC20"/>
          </a:solidFill>
          <a:ln w="12700">
            <a:solidFill>
              <a:srgbClr val="75BC20"/>
            </a:solidFill>
            <a:prstDash val="solid"/>
          </a:ln>
        </p:spPr>
      </p:sp>
      <p:sp>
        <p:nvSpPr>
          <p:cNvPr id="32" name="Text 28"/>
          <p:cNvSpPr txBox="1"/>
          <p:nvPr/>
        </p:nvSpPr>
        <p:spPr>
          <a:xfrm>
            <a:off x="685800" y="5650992"/>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a:t>
            </a:r>
            <a:endParaRPr lang="en-US" sz="1300" dirty="0"/>
          </a:p>
        </p:txBody>
      </p:sp>
      <p:sp>
        <p:nvSpPr>
          <p:cNvPr id="33" name="Text 29"/>
          <p:cNvSpPr txBox="1"/>
          <p:nvPr/>
        </p:nvSpPr>
        <p:spPr>
          <a:xfrm>
            <a:off x="1188720" y="5650992"/>
            <a:ext cx="5029200" cy="347472"/>
          </a:xfrm>
          <a:prstGeom prst="rect">
            <a:avLst/>
          </a:prstGeom>
          <a:noFill/>
          <a:ln/>
        </p:spPr>
        <p:txBody>
          <a:bodyPr wrap="square" lIns="0" tIns="0" rIns="0" bIns="0" rtlCol="0" anchor="ctr"/>
          <a:lstStyle/>
          <a:p>
            <a:pPr indent="0" marL="0">
              <a:buNone/>
            </a:pPr>
            <a:r>
              <a:rPr lang="en-US" sz="1500" b="1" dirty="0">
                <a:solidFill>
                  <a:srgbClr val="75BC20"/>
                </a:solidFill>
                <a:latin typeface="Arial" pitchFamily="34" charset="0"/>
                <a:ea typeface="Arial" pitchFamily="34" charset="-122"/>
                <a:cs typeface="Arial" pitchFamily="34" charset="-120"/>
              </a:rPr>
              <a:t>Contenuti social</a:t>
            </a:r>
            <a:pPr indent="0" marL="0">
              <a:buNone/>
            </a:pPr>
            <a:r>
              <a:rPr lang="en-US" sz="1500" dirty="0">
                <a:solidFill>
                  <a:srgbClr val="5F5D52"/>
                </a:solidFill>
                <a:latin typeface="Arial" pitchFamily="34" charset="0"/>
                <a:ea typeface="Arial" pitchFamily="34" charset="-122"/>
                <a:cs typeface="Arial" pitchFamily="34" charset="-120"/>
              </a:rPr>
              <a:t>   micro-creator + nutrizionisti</a:t>
            </a:r>
            <a:endParaRPr lang="en-US" sz="1500" dirty="0"/>
          </a:p>
        </p:txBody>
      </p:sp>
      <p:pic>
        <p:nvPicPr>
          <p:cNvPr id="34" name="Image 1" descr="img/zone_render.png">    </p:cNvPr>
          <p:cNvPicPr>
            <a:picLocks noChangeAspect="1"/>
          </p:cNvPicPr>
          <p:nvPr/>
        </p:nvPicPr>
        <p:blipFill>
          <a:blip r:embed="rId2"/>
          <a:stretch>
            <a:fillRect/>
          </a:stretch>
        </p:blipFill>
        <p:spPr>
          <a:xfrm>
            <a:off x="6400800" y="2148840"/>
            <a:ext cx="5102352" cy="3060494"/>
          </a:xfrm>
          <a:prstGeom prst="rect">
            <a:avLst/>
          </a:prstGeom>
        </p:spPr>
      </p:pic>
      <p:sp>
        <p:nvSpPr>
          <p:cNvPr id="35" name="Text 30"/>
          <p:cNvSpPr txBox="1"/>
          <p:nvPr/>
        </p:nvSpPr>
        <p:spPr>
          <a:xfrm>
            <a:off x="6400800" y="5300774"/>
            <a:ext cx="5102352" cy="256032"/>
          </a:xfrm>
          <a:prstGeom prst="rect">
            <a:avLst/>
          </a:prstGeom>
          <a:noFill/>
          <a:ln/>
        </p:spPr>
        <p:txBody>
          <a:bodyPr wrap="square" lIns="0" tIns="0" rIns="0" bIns="0" rtlCol="0" anchor="t"/>
          <a:lstStyle/>
          <a:p>
            <a:pPr indent="0" marL="0">
              <a:buNone/>
            </a:pPr>
            <a:r>
              <a:rPr lang="en-US" sz="1100" i="1" dirty="0">
                <a:solidFill>
                  <a:srgbClr val="5F5D52"/>
                </a:solidFill>
                <a:latin typeface="Arial" pitchFamily="34" charset="0"/>
                <a:ea typeface="Arial" pitchFamily="34" charset="-122"/>
                <a:cs typeface="Arial" pitchFamily="34" charset="-120"/>
              </a:rPr>
              <a:t>Render di progetto: la Fruit Up Zone in Piazza Castello, Torino</a:t>
            </a:r>
            <a:endParaRPr lang="en-US" sz="1100" dirty="0"/>
          </a:p>
        </p:txBody>
      </p:sp>
      <p:sp>
        <p:nvSpPr>
          <p:cNvPr id="36" name="C1_cover"/>
          <p:cNvSpPr/>
          <p:nvPr/>
        </p:nvSpPr>
        <p:spPr>
          <a:xfrm>
            <a:off x="6309360" y="2057400"/>
            <a:ext cx="5285232" cy="3563414"/>
          </a:xfrm>
          <a:prstGeom prst="rect">
            <a:avLst/>
          </a:prstGeom>
          <a:solidFill>
            <a:srgbClr val="FFF9E3"/>
          </a:solidFill>
          <a:ln w="12700">
            <a:solidFill>
              <a:srgbClr val="FFF9E3"/>
            </a:solidFill>
            <a:prstDash val="solid"/>
          </a:ln>
        </p:spPr>
      </p:sp>
      <p:pic>
        <p:nvPicPr>
          <p:cNvPr id="37" name="C1_wall" descr="img/wall_render.png">    </p:cNvPr>
          <p:cNvPicPr>
            <a:picLocks noChangeAspect="1"/>
          </p:cNvPicPr>
          <p:nvPr/>
        </p:nvPicPr>
        <p:blipFill>
          <a:blip r:embed="rId3"/>
          <a:stretch>
            <a:fillRect/>
          </a:stretch>
        </p:blipFill>
        <p:spPr>
          <a:xfrm>
            <a:off x="6400800" y="2629268"/>
            <a:ext cx="5102352" cy="1916757"/>
          </a:xfrm>
          <a:prstGeom prst="rect">
            <a:avLst/>
          </a:prstGeom>
        </p:spPr>
      </p:pic>
      <p:sp>
        <p:nvSpPr>
          <p:cNvPr id="38" name="C1_cap"/>
          <p:cNvSpPr txBox="1"/>
          <p:nvPr/>
        </p:nvSpPr>
        <p:spPr>
          <a:xfrm>
            <a:off x="6400800" y="4683185"/>
            <a:ext cx="5102352" cy="274320"/>
          </a:xfrm>
          <a:prstGeom prst="rect">
            <a:avLst/>
          </a:prstGeom>
          <a:noFill/>
          <a:ln/>
        </p:spPr>
        <p:txBody>
          <a:bodyPr wrap="square" lIns="0" tIns="0" rIns="0" bIns="0" rtlCol="0" anchor="t"/>
          <a:lstStyle/>
          <a:p>
            <a:pPr indent="0" marL="0">
              <a:buNone/>
            </a:pPr>
            <a:r>
              <a:rPr lang="en-US" sz="1300" b="1" dirty="0">
                <a:solidFill>
                  <a:srgbClr val="001389"/>
                </a:solidFill>
                <a:latin typeface="Arial" pitchFamily="34" charset="0"/>
                <a:ea typeface="Arial" pitchFamily="34" charset="-122"/>
                <a:cs typeface="Arial" pitchFamily="34" charset="-120"/>
              </a:rPr>
              <a:t>Il Wall: 6 × 2,5 m, dischi scrivibili, QR al centro</a:t>
            </a:r>
            <a:endParaRPr lang="en-US" sz="13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6"/>
                                        </p:tgtEl>
                                        <p:attrNameLst>
                                          <p:attrName>style.visibility</p:attrName>
                                        </p:attrNameLst>
                                      </p:cBhvr>
                                      <p:to>
                                        <p:strVal val="visible"/>
                                      </p:to>
                                    </p:set>
                                    <p:animEffect transition="in" filter="fade">
                                      <p:cBhvr>
                                        <p:cTn id="7" dur="400"/>
                                        <p:tgtEl>
                                          <p:spTgt spid="3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8"/>
                                        </p:tgtEl>
                                        <p:attrNameLst>
                                          <p:attrName>style.visibility</p:attrName>
                                        </p:attrNameLst>
                                      </p:cBhvr>
                                      <p:to>
                                        <p:strVal val="visible"/>
                                      </p:to>
                                    </p:set>
                                    <p:animEffect transition="in" filter="fade">
                                      <p:cBhvr>
                                        <p:cTn id="10" dur="4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animBg="1"/>
      <p:bldP spid="38"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75BC20"/>
        </a:solidFill>
      </p:bgPr>
    </p:bg>
    <p:spTree>
      <p:nvGrpSpPr>
        <p:cNvPr id="1" name=""/>
        <p:cNvGrpSpPr/>
        <p:nvPr/>
      </p:nvGrpSpPr>
      <p:grpSpPr>
        <a:xfrm>
          <a:off x="0" y="0"/>
          <a:ext cx="0" cy="0"/>
          <a:chOff x="0" y="0"/>
          <a:chExt cx="0" cy="0"/>
        </a:xfrm>
      </p:grpSpPr>
      <p:sp>
        <p:nvSpPr>
          <p:cNvPr id="3" name="card"/>
          <p:cNvSpPr/>
          <p:nvPr/>
        </p:nvSpPr>
        <p:spPr>
          <a:xfrm>
            <a:off x="201168" y="201168"/>
            <a:ext cx="11789359" cy="6455664"/>
          </a:xfrm>
          <a:prstGeom prst="roundRect">
            <a:avLst>
              <a:gd name="adj" fmla="val 4249"/>
            </a:avLst>
          </a:prstGeom>
          <a:solidFill>
            <a:srgbClr val="FFF9E3"/>
          </a:solidFill>
          <a:ln w="12700">
            <a:solidFill>
              <a:srgbClr val="FFF9E3"/>
            </a:solidFill>
            <a:prstDash val="solid"/>
          </a:ln>
        </p:spPr>
      </p:sp>
      <p:pic>
        <p:nvPicPr>
          <p:cNvPr id="4" name="logo" descr="img/dole_logo.png">    </p:cNvPr>
          <p:cNvPicPr>
            <a:picLocks noChangeAspect="1"/>
          </p:cNvPicPr>
          <p:nvPr/>
        </p:nvPicPr>
        <p:blipFill>
          <a:blip r:embed="rId1"/>
          <a:stretch>
            <a:fillRect/>
          </a:stretch>
        </p:blipFill>
        <p:spPr>
          <a:xfrm>
            <a:off x="10515600" y="457200"/>
            <a:ext cx="987552" cy="501522"/>
          </a:xfrm>
          <a:prstGeom prst="rect">
            <a:avLst/>
          </a:prstGeom>
        </p:spPr>
      </p:pic>
      <p:sp>
        <p:nvSpPr>
          <p:cNvPr id="5" name="kicker"/>
          <p:cNvSpPr txBox="1"/>
          <p:nvPr/>
        </p:nvSpPr>
        <p:spPr>
          <a:xfrm>
            <a:off x="685800" y="475488"/>
            <a:ext cx="9326880" cy="292608"/>
          </a:xfrm>
          <a:prstGeom prst="rect">
            <a:avLst/>
          </a:prstGeom>
          <a:noFill/>
          <a:ln/>
        </p:spPr>
        <p:txBody>
          <a:bodyPr wrap="square" lIns="0" tIns="0" rIns="0" bIns="0" rtlCol="0" anchor="t"/>
          <a:lstStyle/>
          <a:p>
            <a:pPr indent="0" marL="0">
              <a:buNone/>
            </a:pPr>
            <a:r>
              <a:rPr lang="en-US" sz="1300" b="1" spc="150" kern="0" dirty="0">
                <a:solidFill>
                  <a:srgbClr val="C70F2E"/>
                </a:solidFill>
                <a:latin typeface="Arial" pitchFamily="34" charset="0"/>
                <a:ea typeface="Arial" pitchFamily="34" charset="-122"/>
                <a:cs typeface="Arial" pitchFamily="34" charset="-120"/>
              </a:rPr>
              <a:t>QUALE IMPATTO POSSIAMO GENERARE?</a:t>
            </a:r>
            <a:endParaRPr lang="en-US" sz="1300" dirty="0"/>
          </a:p>
        </p:txBody>
      </p:sp>
      <p:sp>
        <p:nvSpPr>
          <p:cNvPr id="6" name="title"/>
          <p:cNvSpPr txBox="1"/>
          <p:nvPr/>
        </p:nvSpPr>
        <p:spPr>
          <a:xfrm>
            <a:off x="685800" y="822960"/>
            <a:ext cx="9692640" cy="658368"/>
          </a:xfrm>
          <a:prstGeom prst="rect">
            <a:avLst/>
          </a:prstGeom>
          <a:noFill/>
          <a:ln/>
        </p:spPr>
        <p:txBody>
          <a:bodyPr wrap="square" lIns="0" tIns="0" rIns="0" bIns="0" rtlCol="0" anchor="t"/>
          <a:lstStyle/>
          <a:p>
            <a:pPr indent="0" marL="0">
              <a:buNone/>
            </a:pPr>
            <a:r>
              <a:rPr lang="en-US" sz="3200" b="1" dirty="0">
                <a:solidFill>
                  <a:srgbClr val="001389"/>
                </a:solidFill>
                <a:latin typeface="Arial" pitchFamily="34" charset="0"/>
                <a:ea typeface="Arial" pitchFamily="34" charset="-122"/>
                <a:cs typeface="Arial" pitchFamily="34" charset="-120"/>
              </a:rPr>
              <a:t>Il design si paga una volta. Poi si replica.</a:t>
            </a:r>
            <a:endParaRPr lang="en-US" sz="3200" dirty="0"/>
          </a:p>
        </p:txBody>
      </p:sp>
      <p:sp>
        <p:nvSpPr>
          <p:cNvPr id="7" name="Text 3"/>
          <p:cNvSpPr txBox="1"/>
          <p:nvPr/>
        </p:nvSpPr>
        <p:spPr>
          <a:xfrm>
            <a:off x="685800" y="1737360"/>
            <a:ext cx="5394960" cy="292608"/>
          </a:xfrm>
          <a:prstGeom prst="rect">
            <a:avLst/>
          </a:prstGeom>
          <a:noFill/>
          <a:ln/>
        </p:spPr>
        <p:txBody>
          <a:bodyPr wrap="square" lIns="0" tIns="0" rIns="0" bIns="0" rtlCol="0" anchor="t"/>
          <a:lstStyle/>
          <a:p>
            <a:pPr indent="0" marL="0">
              <a:buNone/>
            </a:pPr>
            <a:r>
              <a:rPr lang="en-US" sz="1500" b="1" dirty="0">
                <a:solidFill>
                  <a:srgbClr val="001389"/>
                </a:solidFill>
                <a:latin typeface="Arial" pitchFamily="34" charset="0"/>
                <a:ea typeface="Arial" pitchFamily="34" charset="-122"/>
                <a:cs typeface="Arial" pitchFamily="34" charset="-120"/>
              </a:rPr>
              <a:t>Costo per portare il format in 10 CUS (euro)</a:t>
            </a:r>
            <a:endParaRPr lang="en-US" sz="1500" dirty="0"/>
          </a:p>
        </p:txBody>
      </p:sp>
      <p:graphicFrame>
        <p:nvGraphicFramePr>
          <p:cNvPr id="8" name="Chart 0" descr=""/>
          <p:cNvGraphicFramePr/>
          <p:nvPr/>
        </p:nvGraphicFramePr>
        <p:xfrm>
          <a:off x="548640" y="2057400"/>
          <a:ext cx="5486400" cy="2423160"/>
        </p:xfrm>
        <a:graphic xmlns:a="http://schemas.openxmlformats.org/drawingml/2006/main">
          <a:graphicData uri="http://schemas.openxmlformats.org/drawingml/2006/chart">
            <c:chart xmlns:c="http://schemas.openxmlformats.org/drawingml/2006/chart" r:id="rId2"/>
          </a:graphicData>
        </a:graphic>
      </p:graphicFrame>
      <p:sp>
        <p:nvSpPr>
          <p:cNvPr id="9" name="Text 4"/>
          <p:cNvSpPr txBox="1"/>
          <p:nvPr/>
        </p:nvSpPr>
        <p:spPr>
          <a:xfrm>
            <a:off x="685800" y="4572000"/>
            <a:ext cx="5394960" cy="365760"/>
          </a:xfrm>
          <a:prstGeom prst="rect">
            <a:avLst/>
          </a:prstGeom>
          <a:noFill/>
          <a:ln/>
        </p:spPr>
        <p:txBody>
          <a:bodyPr wrap="square" lIns="0" tIns="0" rIns="0" bIns="0" rtlCol="0" anchor="t"/>
          <a:lstStyle/>
          <a:p>
            <a:pPr indent="0" marL="0">
              <a:buNone/>
            </a:pPr>
            <a:r>
              <a:rPr lang="en-US" sz="1600" dirty="0">
                <a:solidFill>
                  <a:srgbClr val="5F5D52"/>
                </a:solidFill>
                <a:latin typeface="Arial" pitchFamily="34" charset="0"/>
                <a:ea typeface="Arial" pitchFamily="34" charset="-122"/>
                <a:cs typeface="Arial" pitchFamily="34" charset="-120"/>
              </a:rPr>
              <a:t>1ª Fruit Up Zone  </a:t>
            </a:r>
            <a:pPr indent="0" marL="0">
              <a:buNone/>
            </a:pPr>
            <a:r>
              <a:rPr lang="en-US" sz="1600" b="1" dirty="0">
                <a:solidFill>
                  <a:srgbClr val="001389"/>
                </a:solidFill>
                <a:latin typeface="Arial" pitchFamily="34" charset="0"/>
                <a:ea typeface="Arial" pitchFamily="34" charset="-122"/>
                <a:cs typeface="Arial" pitchFamily="34" charset="-120"/>
              </a:rPr>
              <a:t>32.000 €</a:t>
            </a:r>
            <a:pPr indent="0" marL="0">
              <a:buNone/>
            </a:pPr>
            <a:r>
              <a:rPr lang="en-US" sz="1600" dirty="0">
                <a:solidFill>
                  <a:srgbClr val="5F5D52"/>
                </a:solidFill>
                <a:latin typeface="Arial" pitchFamily="34" charset="0"/>
                <a:ea typeface="Arial" pitchFamily="34" charset="-122"/>
                <a:cs typeface="Arial" pitchFamily="34" charset="-120"/>
              </a:rPr>
              <a:t>   →   ogni CUS in più  </a:t>
            </a:r>
            <a:pPr indent="0" marL="0">
              <a:buNone/>
            </a:pPr>
            <a:r>
              <a:rPr lang="en-US" sz="1600" b="1" dirty="0">
                <a:solidFill>
                  <a:srgbClr val="75BC20"/>
                </a:solidFill>
                <a:latin typeface="Arial" pitchFamily="34" charset="0"/>
                <a:ea typeface="Arial" pitchFamily="34" charset="-122"/>
                <a:cs typeface="Arial" pitchFamily="34" charset="-120"/>
              </a:rPr>
              <a:t>~2.000 €</a:t>
            </a:r>
            <a:endParaRPr lang="en-US" sz="1600" dirty="0"/>
          </a:p>
        </p:txBody>
      </p:sp>
      <p:sp>
        <p:nvSpPr>
          <p:cNvPr id="10" name="Text 5"/>
          <p:cNvSpPr txBox="1"/>
          <p:nvPr/>
        </p:nvSpPr>
        <p:spPr>
          <a:xfrm>
            <a:off x="685800" y="4956048"/>
            <a:ext cx="5394960" cy="237744"/>
          </a:xfrm>
          <a:prstGeom prst="rect">
            <a:avLst/>
          </a:prstGeom>
          <a:noFill/>
          <a:ln/>
        </p:spPr>
        <p:txBody>
          <a:bodyPr wrap="square" lIns="0" tIns="0" rIns="0" bIns="0" rtlCol="0" anchor="t"/>
          <a:lstStyle/>
          <a:p>
            <a:pPr indent="0" marL="0">
              <a:buNone/>
            </a:pPr>
            <a:r>
              <a:rPr lang="en-US" sz="1000" i="1" dirty="0">
                <a:solidFill>
                  <a:srgbClr val="5F5D52"/>
                </a:solidFill>
                <a:latin typeface="Arial" pitchFamily="34" charset="0"/>
                <a:ea typeface="Arial" pitchFamily="34" charset="-122"/>
                <a:cs typeface="Arial" pitchFamily="34" charset="-120"/>
              </a:rPr>
              <a:t>Stima degli autori, budget anno 1</a:t>
            </a:r>
            <a:endParaRPr lang="en-US" sz="1000" dirty="0"/>
          </a:p>
        </p:txBody>
      </p:sp>
      <p:sp>
        <p:nvSpPr>
          <p:cNvPr id="11" name="Text 6"/>
          <p:cNvSpPr txBox="1"/>
          <p:nvPr/>
        </p:nvSpPr>
        <p:spPr>
          <a:xfrm>
            <a:off x="6446520" y="1737360"/>
            <a:ext cx="5056632" cy="292608"/>
          </a:xfrm>
          <a:prstGeom prst="rect">
            <a:avLst/>
          </a:prstGeom>
          <a:noFill/>
          <a:ln/>
        </p:spPr>
        <p:txBody>
          <a:bodyPr wrap="square" lIns="0" tIns="0" rIns="0" bIns="0" rtlCol="0" anchor="t"/>
          <a:lstStyle/>
          <a:p>
            <a:pPr indent="0" marL="0">
              <a:buNone/>
            </a:pPr>
            <a:r>
              <a:rPr lang="en-US" sz="1500" b="1" dirty="0">
                <a:solidFill>
                  <a:srgbClr val="001389"/>
                </a:solidFill>
                <a:latin typeface="Arial" pitchFamily="34" charset="0"/>
                <a:ea typeface="Arial" pitchFamily="34" charset="-122"/>
                <a:cs typeface="Arial" pitchFamily="34" charset="-120"/>
              </a:rPr>
              <a:t>Un solo format, appuntamenti che esistono già</a:t>
            </a:r>
            <a:endParaRPr lang="en-US" sz="1500" dirty="0"/>
          </a:p>
        </p:txBody>
      </p:sp>
      <p:sp>
        <p:nvSpPr>
          <p:cNvPr id="12" name="Shape 7"/>
          <p:cNvSpPr/>
          <p:nvPr/>
        </p:nvSpPr>
        <p:spPr>
          <a:xfrm>
            <a:off x="6537960" y="2386584"/>
            <a:ext cx="0" cy="2148840"/>
          </a:xfrm>
          <a:prstGeom prst="line">
            <a:avLst/>
          </a:prstGeom>
          <a:noFill/>
          <a:ln w="25400">
            <a:solidFill>
              <a:srgbClr val="D9CFAE"/>
            </a:solidFill>
            <a:prstDash val="solid"/>
          </a:ln>
        </p:spPr>
      </p:sp>
      <p:sp>
        <p:nvSpPr>
          <p:cNvPr id="13" name="Shape 8"/>
          <p:cNvSpPr/>
          <p:nvPr/>
        </p:nvSpPr>
        <p:spPr>
          <a:xfrm>
            <a:off x="6446520" y="2295144"/>
            <a:ext cx="182880" cy="182880"/>
          </a:xfrm>
          <a:prstGeom prst="ellipse">
            <a:avLst/>
          </a:prstGeom>
          <a:solidFill>
            <a:srgbClr val="75BC20"/>
          </a:solidFill>
          <a:ln w="12700">
            <a:solidFill>
              <a:srgbClr val="75BC20"/>
            </a:solidFill>
            <a:prstDash val="solid"/>
          </a:ln>
        </p:spPr>
      </p:sp>
      <p:sp>
        <p:nvSpPr>
          <p:cNvPr id="14" name="Text 9"/>
          <p:cNvSpPr txBox="1"/>
          <p:nvPr/>
        </p:nvSpPr>
        <p:spPr>
          <a:xfrm>
            <a:off x="6793992" y="2240280"/>
            <a:ext cx="1188720" cy="292608"/>
          </a:xfrm>
          <a:prstGeom prst="rect">
            <a:avLst/>
          </a:prstGeom>
          <a:noFill/>
          <a:ln/>
        </p:spPr>
        <p:txBody>
          <a:bodyPr wrap="square" lIns="0" tIns="0" rIns="0" bIns="0" rtlCol="0" anchor="ctr"/>
          <a:lstStyle/>
          <a:p>
            <a:pPr indent="0" marL="0">
              <a:buNone/>
            </a:pPr>
            <a:r>
              <a:rPr lang="en-US" sz="1100" b="1" dirty="0">
                <a:solidFill>
                  <a:srgbClr val="75BC20"/>
                </a:solidFill>
                <a:latin typeface="Arial" pitchFamily="34" charset="0"/>
                <a:ea typeface="Arial" pitchFamily="34" charset="-122"/>
                <a:cs typeface="Arial" pitchFamily="34" charset="-120"/>
              </a:rPr>
              <a:t>MAR 2027</a:t>
            </a:r>
            <a:endParaRPr lang="en-US" sz="1100" dirty="0"/>
          </a:p>
        </p:txBody>
      </p:sp>
      <p:sp>
        <p:nvSpPr>
          <p:cNvPr id="15" name="Text 10"/>
          <p:cNvSpPr txBox="1"/>
          <p:nvPr/>
        </p:nvSpPr>
        <p:spPr>
          <a:xfrm>
            <a:off x="8019288" y="2240280"/>
            <a:ext cx="3483864" cy="292608"/>
          </a:xfrm>
          <a:prstGeom prst="rect">
            <a:avLst/>
          </a:prstGeom>
          <a:noFill/>
          <a:ln/>
        </p:spPr>
        <p:txBody>
          <a:bodyPr wrap="square" lIns="0" tIns="0" rIns="0" bIns="0" rtlCol="0" anchor="ctr"/>
          <a:lstStyle/>
          <a:p>
            <a:pPr indent="0" marL="0">
              <a:buNone/>
            </a:pPr>
            <a:r>
              <a:rPr lang="en-US" sz="1500" b="1" dirty="0">
                <a:solidFill>
                  <a:srgbClr val="001389"/>
                </a:solidFill>
                <a:latin typeface="Arial" pitchFamily="34" charset="0"/>
                <a:ea typeface="Arial" pitchFamily="34" charset="-122"/>
                <a:cs typeface="Arial" pitchFamily="34" charset="-120"/>
              </a:rPr>
              <a:t>Torino · pilota JTWIA</a:t>
            </a:r>
            <a:endParaRPr lang="en-US" sz="1500" dirty="0"/>
          </a:p>
        </p:txBody>
      </p:sp>
      <p:sp>
        <p:nvSpPr>
          <p:cNvPr id="16" name="Shape 11"/>
          <p:cNvSpPr/>
          <p:nvPr/>
        </p:nvSpPr>
        <p:spPr>
          <a:xfrm>
            <a:off x="6446520" y="2724912"/>
            <a:ext cx="182880" cy="182880"/>
          </a:xfrm>
          <a:prstGeom prst="ellipse">
            <a:avLst/>
          </a:prstGeom>
          <a:solidFill>
            <a:srgbClr val="001389"/>
          </a:solidFill>
          <a:ln w="12700">
            <a:solidFill>
              <a:srgbClr val="001389"/>
            </a:solidFill>
            <a:prstDash val="solid"/>
          </a:ln>
        </p:spPr>
      </p:sp>
      <p:sp>
        <p:nvSpPr>
          <p:cNvPr id="17" name="Text 12"/>
          <p:cNvSpPr txBox="1"/>
          <p:nvPr/>
        </p:nvSpPr>
        <p:spPr>
          <a:xfrm>
            <a:off x="6793992" y="2670048"/>
            <a:ext cx="1188720" cy="292608"/>
          </a:xfrm>
          <a:prstGeom prst="rect">
            <a:avLst/>
          </a:prstGeom>
          <a:noFill/>
          <a:ln/>
        </p:spPr>
        <p:txBody>
          <a:bodyPr wrap="square" lIns="0" tIns="0" rIns="0" bIns="0" rtlCol="0" anchor="ctr"/>
          <a:lstStyle/>
          <a:p>
            <a:pPr indent="0" marL="0">
              <a:buNone/>
            </a:pPr>
            <a:r>
              <a:rPr lang="en-US" sz="1100" b="1" dirty="0">
                <a:solidFill>
                  <a:srgbClr val="5F5D52"/>
                </a:solidFill>
                <a:latin typeface="Arial" pitchFamily="34" charset="0"/>
                <a:ea typeface="Arial" pitchFamily="34" charset="-122"/>
                <a:cs typeface="Arial" pitchFamily="34" charset="-120"/>
              </a:rPr>
              <a:t>MAG 2027</a:t>
            </a:r>
            <a:endParaRPr lang="en-US" sz="1100" dirty="0"/>
          </a:p>
        </p:txBody>
      </p:sp>
      <p:sp>
        <p:nvSpPr>
          <p:cNvPr id="18" name="Text 13"/>
          <p:cNvSpPr txBox="1"/>
          <p:nvPr/>
        </p:nvSpPr>
        <p:spPr>
          <a:xfrm>
            <a:off x="8019288" y="2670048"/>
            <a:ext cx="3483864" cy="292608"/>
          </a:xfrm>
          <a:prstGeom prst="rect">
            <a:avLst/>
          </a:prstGeom>
          <a:noFill/>
          <a:ln/>
        </p:spPr>
        <p:txBody>
          <a:bodyPr wrap="square" lIns="0" tIns="0" rIns="0" bIns="0" rtlCol="0" anchor="ctr"/>
          <a:lstStyle/>
          <a:p>
            <a:pPr indent="0" marL="0">
              <a:buNone/>
            </a:pPr>
            <a:r>
              <a:rPr lang="en-US" sz="1500" dirty="0">
                <a:solidFill>
                  <a:srgbClr val="001389"/>
                </a:solidFill>
                <a:latin typeface="Arial" pitchFamily="34" charset="0"/>
                <a:ea typeface="Arial" pitchFamily="34" charset="-122"/>
                <a:cs typeface="Arial" pitchFamily="34" charset="-120"/>
              </a:rPr>
              <a:t>Campionati Nazionali Universitari</a:t>
            </a:r>
            <a:endParaRPr lang="en-US" sz="1500" dirty="0"/>
          </a:p>
        </p:txBody>
      </p:sp>
      <p:sp>
        <p:nvSpPr>
          <p:cNvPr id="19" name="Shape 14"/>
          <p:cNvSpPr/>
          <p:nvPr/>
        </p:nvSpPr>
        <p:spPr>
          <a:xfrm>
            <a:off x="6446520" y="3154680"/>
            <a:ext cx="182880" cy="182880"/>
          </a:xfrm>
          <a:prstGeom prst="ellipse">
            <a:avLst/>
          </a:prstGeom>
          <a:solidFill>
            <a:srgbClr val="001389"/>
          </a:solidFill>
          <a:ln w="12700">
            <a:solidFill>
              <a:srgbClr val="001389"/>
            </a:solidFill>
            <a:prstDash val="solid"/>
          </a:ln>
        </p:spPr>
      </p:sp>
      <p:sp>
        <p:nvSpPr>
          <p:cNvPr id="20" name="Text 15"/>
          <p:cNvSpPr txBox="1"/>
          <p:nvPr/>
        </p:nvSpPr>
        <p:spPr>
          <a:xfrm>
            <a:off x="6793992" y="3099816"/>
            <a:ext cx="1188720" cy="292608"/>
          </a:xfrm>
          <a:prstGeom prst="rect">
            <a:avLst/>
          </a:prstGeom>
          <a:noFill/>
          <a:ln/>
        </p:spPr>
        <p:txBody>
          <a:bodyPr wrap="square" lIns="0" tIns="0" rIns="0" bIns="0" rtlCol="0" anchor="ctr"/>
          <a:lstStyle/>
          <a:p>
            <a:pPr indent="0" marL="0">
              <a:buNone/>
            </a:pPr>
            <a:r>
              <a:rPr lang="en-US" sz="1100" b="1" dirty="0">
                <a:solidFill>
                  <a:srgbClr val="5F5D52"/>
                </a:solidFill>
                <a:latin typeface="Arial" pitchFamily="34" charset="0"/>
                <a:ea typeface="Arial" pitchFamily="34" charset="-122"/>
                <a:cs typeface="Arial" pitchFamily="34" charset="-120"/>
              </a:rPr>
              <a:t>SET-OTT</a:t>
            </a:r>
            <a:endParaRPr lang="en-US" sz="1100" dirty="0"/>
          </a:p>
        </p:txBody>
      </p:sp>
      <p:sp>
        <p:nvSpPr>
          <p:cNvPr id="21" name="Text 16"/>
          <p:cNvSpPr txBox="1"/>
          <p:nvPr/>
        </p:nvSpPr>
        <p:spPr>
          <a:xfrm>
            <a:off x="8019288" y="3099816"/>
            <a:ext cx="3483864" cy="292608"/>
          </a:xfrm>
          <a:prstGeom prst="rect">
            <a:avLst/>
          </a:prstGeom>
          <a:noFill/>
          <a:ln/>
        </p:spPr>
        <p:txBody>
          <a:bodyPr wrap="square" lIns="0" tIns="0" rIns="0" bIns="0" rtlCol="0" anchor="ctr"/>
          <a:lstStyle/>
          <a:p>
            <a:pPr indent="0" marL="0">
              <a:buNone/>
            </a:pPr>
            <a:r>
              <a:rPr lang="en-US" sz="1500" dirty="0">
                <a:solidFill>
                  <a:srgbClr val="001389"/>
                </a:solidFill>
                <a:latin typeface="Arial" pitchFamily="34" charset="0"/>
                <a:ea typeface="Arial" pitchFamily="34" charset="-122"/>
                <a:cs typeface="Arial" pitchFamily="34" charset="-120"/>
              </a:rPr>
              <a:t>Settimane delle matricole</a:t>
            </a:r>
            <a:endParaRPr lang="en-US" sz="1500" dirty="0"/>
          </a:p>
        </p:txBody>
      </p:sp>
      <p:sp>
        <p:nvSpPr>
          <p:cNvPr id="22" name="Shape 17"/>
          <p:cNvSpPr/>
          <p:nvPr/>
        </p:nvSpPr>
        <p:spPr>
          <a:xfrm>
            <a:off x="6446520" y="3584448"/>
            <a:ext cx="182880" cy="182880"/>
          </a:xfrm>
          <a:prstGeom prst="ellipse">
            <a:avLst/>
          </a:prstGeom>
          <a:solidFill>
            <a:srgbClr val="001389"/>
          </a:solidFill>
          <a:ln w="12700">
            <a:solidFill>
              <a:srgbClr val="001389"/>
            </a:solidFill>
            <a:prstDash val="solid"/>
          </a:ln>
        </p:spPr>
      </p:sp>
      <p:sp>
        <p:nvSpPr>
          <p:cNvPr id="23" name="Text 18"/>
          <p:cNvSpPr txBox="1"/>
          <p:nvPr/>
        </p:nvSpPr>
        <p:spPr>
          <a:xfrm>
            <a:off x="6793992" y="3529584"/>
            <a:ext cx="1188720" cy="292608"/>
          </a:xfrm>
          <a:prstGeom prst="rect">
            <a:avLst/>
          </a:prstGeom>
          <a:noFill/>
          <a:ln/>
        </p:spPr>
        <p:txBody>
          <a:bodyPr wrap="square" lIns="0" tIns="0" rIns="0" bIns="0" rtlCol="0" anchor="ctr"/>
          <a:lstStyle/>
          <a:p>
            <a:pPr indent="0" marL="0">
              <a:buNone/>
            </a:pPr>
            <a:r>
              <a:rPr lang="en-US" sz="1100" b="1" dirty="0">
                <a:solidFill>
                  <a:srgbClr val="5F5D52"/>
                </a:solidFill>
                <a:latin typeface="Arial" pitchFamily="34" charset="0"/>
                <a:ea typeface="Arial" pitchFamily="34" charset="-122"/>
                <a:cs typeface="Arial" pitchFamily="34" charset="-120"/>
              </a:rPr>
              <a:t>DA OTT</a:t>
            </a:r>
            <a:endParaRPr lang="en-US" sz="1100" dirty="0"/>
          </a:p>
        </p:txBody>
      </p:sp>
      <p:sp>
        <p:nvSpPr>
          <p:cNvPr id="24" name="Text 19"/>
          <p:cNvSpPr txBox="1"/>
          <p:nvPr/>
        </p:nvSpPr>
        <p:spPr>
          <a:xfrm>
            <a:off x="8019288" y="3529584"/>
            <a:ext cx="3483864" cy="292608"/>
          </a:xfrm>
          <a:prstGeom prst="rect">
            <a:avLst/>
          </a:prstGeom>
          <a:noFill/>
          <a:ln/>
        </p:spPr>
        <p:txBody>
          <a:bodyPr wrap="square" lIns="0" tIns="0" rIns="0" bIns="0" rtlCol="0" anchor="ctr"/>
          <a:lstStyle/>
          <a:p>
            <a:pPr indent="0" marL="0">
              <a:buNone/>
            </a:pPr>
            <a:r>
              <a:rPr lang="en-US" sz="1500" dirty="0">
                <a:solidFill>
                  <a:srgbClr val="001389"/>
                </a:solidFill>
                <a:latin typeface="Arial" pitchFamily="34" charset="0"/>
                <a:ea typeface="Arial" pitchFamily="34" charset="-122"/>
                <a:cs typeface="Arial" pitchFamily="34" charset="-120"/>
              </a:rPr>
              <a:t>Tornei interfacoltà</a:t>
            </a:r>
            <a:endParaRPr lang="en-US" sz="1500" dirty="0"/>
          </a:p>
        </p:txBody>
      </p:sp>
      <p:sp>
        <p:nvSpPr>
          <p:cNvPr id="25" name="Shape 20"/>
          <p:cNvSpPr/>
          <p:nvPr/>
        </p:nvSpPr>
        <p:spPr>
          <a:xfrm>
            <a:off x="6446520" y="4014216"/>
            <a:ext cx="182880" cy="182880"/>
          </a:xfrm>
          <a:prstGeom prst="ellipse">
            <a:avLst/>
          </a:prstGeom>
          <a:solidFill>
            <a:srgbClr val="001389"/>
          </a:solidFill>
          <a:ln w="12700">
            <a:solidFill>
              <a:srgbClr val="001389"/>
            </a:solidFill>
            <a:prstDash val="solid"/>
          </a:ln>
        </p:spPr>
      </p:sp>
      <p:sp>
        <p:nvSpPr>
          <p:cNvPr id="26" name="Text 21"/>
          <p:cNvSpPr txBox="1"/>
          <p:nvPr/>
        </p:nvSpPr>
        <p:spPr>
          <a:xfrm>
            <a:off x="6793992" y="3959352"/>
            <a:ext cx="1188720" cy="292608"/>
          </a:xfrm>
          <a:prstGeom prst="rect">
            <a:avLst/>
          </a:prstGeom>
          <a:noFill/>
          <a:ln/>
        </p:spPr>
        <p:txBody>
          <a:bodyPr wrap="square" lIns="0" tIns="0" rIns="0" bIns="0" rtlCol="0" anchor="ctr"/>
          <a:lstStyle/>
          <a:p>
            <a:pPr indent="0" marL="0">
              <a:buNone/>
            </a:pPr>
            <a:r>
              <a:rPr lang="en-US" sz="1100" b="1" dirty="0">
                <a:solidFill>
                  <a:srgbClr val="5F5D52"/>
                </a:solidFill>
                <a:latin typeface="Arial" pitchFamily="34" charset="0"/>
                <a:ea typeface="Arial" pitchFamily="34" charset="-122"/>
                <a:cs typeface="Arial" pitchFamily="34" charset="-120"/>
              </a:rPr>
              <a:t>DA NOV</a:t>
            </a:r>
            <a:endParaRPr lang="en-US" sz="1100" dirty="0"/>
          </a:p>
        </p:txBody>
      </p:sp>
      <p:sp>
        <p:nvSpPr>
          <p:cNvPr id="27" name="Text 22"/>
          <p:cNvSpPr txBox="1"/>
          <p:nvPr/>
        </p:nvSpPr>
        <p:spPr>
          <a:xfrm>
            <a:off x="8019288" y="3959352"/>
            <a:ext cx="3483864" cy="292608"/>
          </a:xfrm>
          <a:prstGeom prst="rect">
            <a:avLst/>
          </a:prstGeom>
          <a:noFill/>
          <a:ln/>
        </p:spPr>
        <p:txBody>
          <a:bodyPr wrap="square" lIns="0" tIns="0" rIns="0" bIns="0" rtlCol="0" anchor="ctr"/>
          <a:lstStyle/>
          <a:p>
            <a:pPr indent="0" marL="0">
              <a:buNone/>
            </a:pPr>
            <a:r>
              <a:rPr lang="en-US" sz="1500" dirty="0">
                <a:solidFill>
                  <a:srgbClr val="001389"/>
                </a:solidFill>
                <a:latin typeface="Arial" pitchFamily="34" charset="0"/>
                <a:ea typeface="Arial" pitchFamily="34" charset="-122"/>
                <a:cs typeface="Arial" pitchFamily="34" charset="-120"/>
              </a:rPr>
              <a:t>Giornate nelle scuole</a:t>
            </a:r>
            <a:endParaRPr lang="en-US" sz="1500" dirty="0"/>
          </a:p>
        </p:txBody>
      </p:sp>
      <p:sp>
        <p:nvSpPr>
          <p:cNvPr id="28" name="Shape 23"/>
          <p:cNvSpPr/>
          <p:nvPr/>
        </p:nvSpPr>
        <p:spPr>
          <a:xfrm>
            <a:off x="6446520" y="4443984"/>
            <a:ext cx="182880" cy="182880"/>
          </a:xfrm>
          <a:prstGeom prst="ellipse">
            <a:avLst/>
          </a:prstGeom>
          <a:solidFill>
            <a:srgbClr val="C70F2E"/>
          </a:solidFill>
          <a:ln w="12700">
            <a:solidFill>
              <a:srgbClr val="C70F2E"/>
            </a:solidFill>
            <a:prstDash val="solid"/>
          </a:ln>
        </p:spPr>
      </p:sp>
      <p:sp>
        <p:nvSpPr>
          <p:cNvPr id="29" name="Text 24"/>
          <p:cNvSpPr txBox="1"/>
          <p:nvPr/>
        </p:nvSpPr>
        <p:spPr>
          <a:xfrm>
            <a:off x="6793992" y="4389120"/>
            <a:ext cx="1188720" cy="292608"/>
          </a:xfrm>
          <a:prstGeom prst="rect">
            <a:avLst/>
          </a:prstGeom>
          <a:noFill/>
          <a:ln/>
        </p:spPr>
        <p:txBody>
          <a:bodyPr wrap="square" lIns="0" tIns="0" rIns="0" bIns="0" rtlCol="0" anchor="ctr"/>
          <a:lstStyle/>
          <a:p>
            <a:pPr indent="0" marL="0">
              <a:buNone/>
            </a:pPr>
            <a:r>
              <a:rPr lang="en-US" sz="1100" b="1" dirty="0">
                <a:solidFill>
                  <a:srgbClr val="C70F2E"/>
                </a:solidFill>
                <a:latin typeface="Arial" pitchFamily="34" charset="0"/>
                <a:ea typeface="Arial" pitchFamily="34" charset="-122"/>
                <a:cs typeface="Arial" pitchFamily="34" charset="-120"/>
              </a:rPr>
              <a:t>2027 → 2028</a:t>
            </a:r>
            <a:endParaRPr lang="en-US" sz="1100" dirty="0"/>
          </a:p>
        </p:txBody>
      </p:sp>
      <p:sp>
        <p:nvSpPr>
          <p:cNvPr id="30" name="Text 25"/>
          <p:cNvSpPr txBox="1"/>
          <p:nvPr/>
        </p:nvSpPr>
        <p:spPr>
          <a:xfrm>
            <a:off x="8019288" y="4389120"/>
            <a:ext cx="3483864" cy="292608"/>
          </a:xfrm>
          <a:prstGeom prst="rect">
            <a:avLst/>
          </a:prstGeom>
          <a:noFill/>
          <a:ln/>
        </p:spPr>
        <p:txBody>
          <a:bodyPr wrap="square" lIns="0" tIns="0" rIns="0" bIns="0" rtlCol="0" anchor="ctr"/>
          <a:lstStyle/>
          <a:p>
            <a:pPr indent="0" marL="0">
              <a:buNone/>
            </a:pPr>
            <a:r>
              <a:rPr lang="en-US" sz="1500" b="1" dirty="0">
                <a:solidFill>
                  <a:srgbClr val="001389"/>
                </a:solidFill>
                <a:latin typeface="Arial" pitchFamily="34" charset="0"/>
                <a:ea typeface="Arial" pitchFamily="34" charset="-122"/>
                <a:cs typeface="Arial" pitchFamily="34" charset="-120"/>
              </a:rPr>
              <a:t>Sponsorizzazioni Dole</a:t>
            </a:r>
            <a:endParaRPr lang="en-US" sz="1500" dirty="0"/>
          </a:p>
        </p:txBody>
      </p:sp>
      <p:sp>
        <p:nvSpPr>
          <p:cNvPr id="31" name="Text 26"/>
          <p:cNvSpPr txBox="1"/>
          <p:nvPr/>
        </p:nvSpPr>
        <p:spPr>
          <a:xfrm>
            <a:off x="8019288" y="4727448"/>
            <a:ext cx="3483864" cy="457200"/>
          </a:xfrm>
          <a:prstGeom prst="rect">
            <a:avLst/>
          </a:prstGeom>
          <a:noFill/>
          <a:ln/>
        </p:spPr>
        <p:txBody>
          <a:bodyPr wrap="square" lIns="0" tIns="0" rIns="0" bIns="0" rtlCol="0" anchor="t"/>
          <a:lstStyle/>
          <a:p>
            <a:pPr indent="0" marL="0">
              <a:buNone/>
            </a:pPr>
            <a:r>
              <a:rPr lang="en-US" sz="1100" dirty="0">
                <a:solidFill>
                  <a:srgbClr val="5F5D52"/>
                </a:solidFill>
                <a:latin typeface="Arial" pitchFamily="34" charset="0"/>
                <a:ea typeface="Arial" pitchFamily="34" charset="-122"/>
                <a:cs typeface="Arial" pitchFamily="34" charset="-120"/>
              </a:rPr>
              <a:t>3 nel 2027 (Maratone Roma e Milano, Swim the Island, Dole Basket Rimini), poi in ogni rinnovo dal 2028</a:t>
            </a:r>
            <a:endParaRPr lang="en-US" sz="1100" dirty="0"/>
          </a:p>
        </p:txBody>
      </p:sp>
      <p:sp>
        <p:nvSpPr>
          <p:cNvPr id="32" name="Shape 27"/>
          <p:cNvSpPr/>
          <p:nvPr/>
        </p:nvSpPr>
        <p:spPr>
          <a:xfrm>
            <a:off x="685800" y="5596128"/>
            <a:ext cx="10817352" cy="603504"/>
          </a:xfrm>
          <a:prstGeom prst="roundRect">
            <a:avLst>
              <a:gd name="adj" fmla="val 50000"/>
            </a:avLst>
          </a:prstGeom>
          <a:solidFill>
            <a:srgbClr val="001389"/>
          </a:solidFill>
          <a:ln w="12700">
            <a:solidFill>
              <a:srgbClr val="001389"/>
            </a:solidFill>
            <a:prstDash val="solid"/>
          </a:ln>
        </p:spPr>
      </p:sp>
      <p:sp>
        <p:nvSpPr>
          <p:cNvPr id="33" name="Text 28"/>
          <p:cNvSpPr txBox="1"/>
          <p:nvPr/>
        </p:nvSpPr>
        <p:spPr>
          <a:xfrm>
            <a:off x="685800" y="5596128"/>
            <a:ext cx="10817352" cy="603504"/>
          </a:xfrm>
          <a:prstGeom prst="rect">
            <a:avLst/>
          </a:prstGeom>
          <a:noFill/>
          <a:ln/>
        </p:spPr>
        <p:txBody>
          <a:bodyPr wrap="square" lIns="0" tIns="0" rIns="0" bIns="0" rtlCol="0" anchor="ctr"/>
          <a:lstStyle/>
          <a:p>
            <a:pPr algn="ctr" indent="0" marL="0">
              <a:buNone/>
            </a:pPr>
            <a:r>
              <a:rPr lang="en-US" sz="1900" b="1" dirty="0">
                <a:solidFill>
                  <a:srgbClr val="FFFFFF"/>
                </a:solidFill>
                <a:latin typeface="Arial" pitchFamily="34" charset="0"/>
                <a:ea typeface="Arial" pitchFamily="34" charset="-122"/>
                <a:cs typeface="Arial" pitchFamily="34" charset="-120"/>
              </a:rPr>
              <a:t>200.000 € l'anno</a:t>
            </a:r>
            <a:pPr algn="ctr" indent="0" marL="0">
              <a:buNone/>
            </a:pPr>
            <a:r>
              <a:rPr lang="en-US" sz="1900" dirty="0">
                <a:solidFill>
                  <a:srgbClr val="FFF9E3"/>
                </a:solidFill>
                <a:latin typeface="Arial" pitchFamily="34" charset="0"/>
                <a:ea typeface="Arial" pitchFamily="34" charset="-122"/>
                <a:cs typeface="Arial" pitchFamily="34" charset="-120"/>
              </a:rPr>
              <a:t>   ·   prodotto, prezzo e distribuzione invariati</a:t>
            </a:r>
            <a:endParaRPr lang="en-US" sz="1900" dirty="0"/>
          </a:p>
        </p:txBody>
      </p:sp>
      <p:sp>
        <p:nvSpPr>
          <p:cNvPr id="34" name="C1_card"/>
          <p:cNvSpPr/>
          <p:nvPr/>
        </p:nvSpPr>
        <p:spPr>
          <a:xfrm>
            <a:off x="201168" y="201168"/>
            <a:ext cx="11789359" cy="6455664"/>
          </a:xfrm>
          <a:prstGeom prst="roundRect">
            <a:avLst>
              <a:gd name="adj" fmla="val 4249"/>
            </a:avLst>
          </a:prstGeom>
          <a:solidFill>
            <a:srgbClr val="001389"/>
          </a:solidFill>
          <a:ln w="12700">
            <a:solidFill>
              <a:srgbClr val="001389"/>
            </a:solidFill>
            <a:prstDash val="solid"/>
          </a:ln>
        </p:spPr>
      </p:sp>
      <p:pic>
        <p:nvPicPr>
          <p:cNvPr id="35" name="C1_dots" descr="preencoded.png">    </p:cNvPr>
          <p:cNvPicPr>
            <a:picLocks noChangeAspect="1"/>
          </p:cNvPicPr>
          <p:nvPr/>
        </p:nvPicPr>
        <p:blipFill>
          <a:blip r:embed="rId3"/>
          <a:stretch>
            <a:fillRect/>
          </a:stretch>
        </p:blipFill>
        <p:spPr>
          <a:xfrm>
            <a:off x="384048" y="320040"/>
            <a:ext cx="11430000" cy="6217920"/>
          </a:xfrm>
          <a:prstGeom prst="rect">
            <a:avLst/>
          </a:prstGeom>
        </p:spPr>
      </p:pic>
      <p:sp>
        <p:nvSpPr>
          <p:cNvPr id="36" name="C1_q"/>
          <p:cNvSpPr txBox="1"/>
          <p:nvPr/>
        </p:nvSpPr>
        <p:spPr>
          <a:xfrm>
            <a:off x="457200" y="2011680"/>
            <a:ext cx="11277295" cy="1188720"/>
          </a:xfrm>
          <a:prstGeom prst="rect">
            <a:avLst/>
          </a:prstGeom>
          <a:noFill/>
          <a:ln/>
        </p:spPr>
        <p:txBody>
          <a:bodyPr wrap="square" lIns="0" tIns="0" rIns="0" bIns="0" rtlCol="0" anchor="ctr"/>
          <a:lstStyle/>
          <a:p>
            <a:pPr algn="ctr" indent="0" marL="0">
              <a:buNone/>
            </a:pPr>
            <a:r>
              <a:rPr lang="en-US" sz="6400" b="1" dirty="0">
                <a:solidFill>
                  <a:srgbClr val="FFFFFF"/>
                </a:solidFill>
                <a:latin typeface="Arial" pitchFamily="34" charset="0"/>
                <a:ea typeface="Arial" pitchFamily="34" charset="-122"/>
                <a:cs typeface="Arial" pitchFamily="34" charset="-120"/>
              </a:rPr>
              <a:t>«Oggi come ti senti?»</a:t>
            </a:r>
            <a:endParaRPr lang="en-US" sz="6400" dirty="0"/>
          </a:p>
        </p:txBody>
      </p:sp>
      <p:sp>
        <p:nvSpPr>
          <p:cNvPr id="37" name="C1_claim"/>
          <p:cNvSpPr txBox="1"/>
          <p:nvPr/>
        </p:nvSpPr>
        <p:spPr>
          <a:xfrm>
            <a:off x="457200" y="3337560"/>
            <a:ext cx="11277295" cy="731520"/>
          </a:xfrm>
          <a:prstGeom prst="rect">
            <a:avLst/>
          </a:prstGeom>
          <a:noFill/>
          <a:ln/>
        </p:spPr>
        <p:txBody>
          <a:bodyPr wrap="square" lIns="0" tIns="0" rIns="0" bIns="0" rtlCol="0" anchor="ctr"/>
          <a:lstStyle/>
          <a:p>
            <a:pPr algn="ctr" indent="0" marL="0">
              <a:buNone/>
            </a:pPr>
            <a:r>
              <a:rPr lang="en-US" sz="3800" b="1" i="1" dirty="0">
                <a:solidFill>
                  <a:srgbClr val="75BC20"/>
                </a:solidFill>
                <a:latin typeface="Cambria" pitchFamily="34" charset="0"/>
                <a:ea typeface="Cambria" pitchFamily="34" charset="-122"/>
                <a:cs typeface="Cambria" pitchFamily="34" charset="-120"/>
              </a:rPr>
              <a:t>Fruit Up. Feel Good.</a:t>
            </a:r>
            <a:endParaRPr lang="en-US" sz="3800" dirty="0"/>
          </a:p>
        </p:txBody>
      </p:sp>
      <p:sp>
        <p:nvSpPr>
          <p:cNvPr id="38" name="C1_names"/>
          <p:cNvSpPr txBox="1"/>
          <p:nvPr/>
        </p:nvSpPr>
        <p:spPr>
          <a:xfrm>
            <a:off x="457200" y="4343400"/>
            <a:ext cx="11277295" cy="365760"/>
          </a:xfrm>
          <a:prstGeom prst="rect">
            <a:avLst/>
          </a:prstGeom>
          <a:noFill/>
          <a:ln/>
        </p:spPr>
        <p:txBody>
          <a:bodyPr wrap="square" lIns="0" tIns="0" rIns="0" bIns="0" rtlCol="0" anchor="t"/>
          <a:lstStyle/>
          <a:p>
            <a:pPr algn="ctr" indent="0" marL="0">
              <a:buNone/>
            </a:pPr>
            <a:r>
              <a:rPr lang="en-US" sz="1500" dirty="0">
                <a:solidFill>
                  <a:srgbClr val="FFF9E3"/>
                </a:solidFill>
                <a:latin typeface="Arial" pitchFamily="34" charset="0"/>
                <a:ea typeface="Arial" pitchFamily="34" charset="-122"/>
                <a:cs typeface="Arial" pitchFamily="34" charset="-120"/>
              </a:rPr>
              <a:t>Dole Fruit Up  ·  Alessio Veizaj  ·  Federica Genoese  ·  Giorgia Rinaldi</a:t>
            </a:r>
            <a:endParaRPr lang="en-US" sz="15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4"/>
                                        </p:tgtEl>
                                        <p:attrNameLst>
                                          <p:attrName>style.visibility</p:attrName>
                                        </p:attrNameLst>
                                      </p:cBhvr>
                                      <p:to>
                                        <p:strVal val="visible"/>
                                      </p:to>
                                    </p:set>
                                    <p:animEffect transition="in" filter="fade">
                                      <p:cBhvr>
                                        <p:cTn id="7" dur="400"/>
                                        <p:tgtEl>
                                          <p:spTgt spid="3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6"/>
                                        </p:tgtEl>
                                        <p:attrNameLst>
                                          <p:attrName>style.visibility</p:attrName>
                                        </p:attrNameLst>
                                      </p:cBhvr>
                                      <p:to>
                                        <p:strVal val="visible"/>
                                      </p:to>
                                    </p:set>
                                    <p:animEffect transition="in" filter="fade">
                                      <p:cBhvr>
                                        <p:cTn id="10" dur="400"/>
                                        <p:tgtEl>
                                          <p:spTgt spid="3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7"/>
                                        </p:tgtEl>
                                        <p:attrNameLst>
                                          <p:attrName>style.visibility</p:attrName>
                                        </p:attrNameLst>
                                      </p:cBhvr>
                                      <p:to>
                                        <p:strVal val="visible"/>
                                      </p:to>
                                    </p:set>
                                    <p:animEffect transition="in" filter="fade">
                                      <p:cBhvr>
                                        <p:cTn id="13" dur="400"/>
                                        <p:tgtEl>
                                          <p:spTgt spid="3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38"/>
                                        </p:tgtEl>
                                        <p:attrNameLst>
                                          <p:attrName>style.visibility</p:attrName>
                                        </p:attrNameLst>
                                      </p:cBhvr>
                                      <p:to>
                                        <p:strVal val="visible"/>
                                      </p:to>
                                    </p:set>
                                    <p:animEffect transition="in" filter="fade">
                                      <p:cBhvr>
                                        <p:cTn id="16" dur="4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6" grpId="0" animBg="1"/>
      <p:bldP spid="37" grpId="0" animBg="1"/>
      <p:bldP spid="38" grpId="0" animBg="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Slides>
  <Notes>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Slide 1</vt:lpstr>
      <vt:lpstr>Slide 2</vt:lpstr>
      <vt:lpstr>Slide 3</vt:lpstr>
      <vt:lpstr>Slide 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Dole Fruit Up - Pitch</dc:title>
  <dc:subject>PptxGenJS Presentation</dc:subject>
  <dc:creator>Alessio Veizaj, Federica Genoese, Giorgia Rinaldi</dc:creator>
  <cp:lastModifiedBy>Alessio Veizaj, Federica Genoese, Giorgia Rinaldi</cp:lastModifiedBy>
  <cp:revision>1</cp:revision>
  <dcterms:created xsi:type="dcterms:W3CDTF">2026-09-29T23:50:15Z</dcterms:created>
  <dcterms:modified xsi:type="dcterms:W3CDTF">2026-09-29T23:50:15Z</dcterms:modified>
</cp:coreProperties>
</file>